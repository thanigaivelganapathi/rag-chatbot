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3"/>
  </p:notesMasterIdLst>
  <p:sldIdLst>
    <p:sldId id="256" r:id="rId2"/>
    <p:sldId id="354" r:id="rId3"/>
    <p:sldId id="352" r:id="rId4"/>
    <p:sldId id="353" r:id="rId5"/>
    <p:sldId id="339" r:id="rId6"/>
    <p:sldId id="273" r:id="rId7"/>
    <p:sldId id="274" r:id="rId8"/>
    <p:sldId id="343" r:id="rId9"/>
    <p:sldId id="345" r:id="rId10"/>
    <p:sldId id="360" r:id="rId11"/>
    <p:sldId id="357" r:id="rId12"/>
    <p:sldId id="361" r:id="rId13"/>
    <p:sldId id="364" r:id="rId14"/>
    <p:sldId id="365" r:id="rId15"/>
    <p:sldId id="366" r:id="rId16"/>
    <p:sldId id="363" r:id="rId17"/>
    <p:sldId id="362" r:id="rId18"/>
    <p:sldId id="356" r:id="rId19"/>
    <p:sldId id="351" r:id="rId20"/>
    <p:sldId id="335" r:id="rId21"/>
    <p:sldId id="337" r:id="rId22"/>
  </p:sldIdLst>
  <p:sldSz cx="9144000" cy="5143500" type="screen16x9"/>
  <p:notesSz cx="6858000" cy="9144000"/>
  <p:embeddedFontLst>
    <p:embeddedFont>
      <p:font typeface="Calibri" panose="020F0502020204030204" pitchFamily="34" charset="0"/>
      <p:regular r:id="rId24"/>
      <p:bold r:id="rId25"/>
      <p:italic r:id="rId26"/>
      <p:boldItalic r:id="rId27"/>
    </p:embeddedFont>
    <p:embeddedFont>
      <p:font typeface="Oxygen Light" panose="020B0604020202020204" charset="0"/>
      <p:regular r:id="rId28"/>
    </p:embeddedFont>
    <p:embeddedFont>
      <p:font typeface="Zilla Slab SemiBold" panose="020B0604020202020204" charset="0"/>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BD259D3-D1E3-4343-A53C-96DB8B1D8F61}" styleName="Table_0">
    <a:wholeTbl>
      <a:tcTxStyle>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FDF0"/>
          </a:solidFill>
        </a:fill>
      </a:tcStyle>
    </a:wholeTbl>
    <a:band1H>
      <a:tcStyle>
        <a:tcBdr/>
        <a:fill>
          <a:solidFill>
            <a:srgbClr val="E7FBE1"/>
          </a:solidFill>
        </a:fill>
      </a:tcStyle>
    </a:band1H>
    <a:band2H>
      <a:tcStyle>
        <a:tcBdr/>
      </a:tcStyle>
    </a:band2H>
    <a:band1V>
      <a:tcStyle>
        <a:tcBdr/>
        <a:fill>
          <a:solidFill>
            <a:srgbClr val="E7FBE1"/>
          </a:solidFill>
        </a:fill>
      </a:tcStyle>
    </a:band1V>
    <a:band2V>
      <a:tcStyle>
        <a:tcBdr/>
      </a:tcStyle>
    </a:band2V>
    <a:lastCol>
      <a:tcTxStyle b="on">
        <a:font>
          <a:latin typeface="Arial"/>
          <a:ea typeface="Arial"/>
          <a:cs typeface="Arial"/>
        </a:font>
        <a:schemeClr val="lt1"/>
      </a:tcTxStyle>
      <a:tcStyle>
        <a:tcBdr/>
        <a:fill>
          <a:solidFill>
            <a:schemeClr val="accent1"/>
          </a:solidFill>
        </a:fill>
      </a:tcStyle>
    </a:lastCol>
    <a:firstCol>
      <a:tcTxStyle b="on">
        <a:font>
          <a:latin typeface="Arial"/>
          <a:ea typeface="Arial"/>
          <a:cs typeface="Arial"/>
        </a:font>
        <a:schemeClr val="lt1"/>
      </a:tcTxStyle>
      <a:tcStyle>
        <a:tcBdr/>
        <a:fill>
          <a:solidFill>
            <a:schemeClr val="accent1"/>
          </a:solidFill>
        </a:fill>
      </a:tcStyle>
    </a:firstCol>
    <a:lastRow>
      <a:tcTxStyle b="on">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778" y="91"/>
      </p:cViewPr>
      <p:guideLst>
        <p:guide orient="horz" pos="1620"/>
        <p:guide pos="28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7F0C3E84-5249-16D3-A0E1-193D8936B75C}"/>
            </a:ext>
          </a:extLst>
        </p:cNvPr>
        <p:cNvGrpSpPr/>
        <p:nvPr/>
      </p:nvGrpSpPr>
      <p:grpSpPr>
        <a:xfrm>
          <a:off x="0" y="0"/>
          <a:ext cx="0" cy="0"/>
          <a:chOff x="0" y="0"/>
          <a:chExt cx="0" cy="0"/>
        </a:xfrm>
      </p:grpSpPr>
      <p:sp>
        <p:nvSpPr>
          <p:cNvPr id="52" name="Google Shape;52;p3:notes">
            <a:extLst>
              <a:ext uri="{FF2B5EF4-FFF2-40B4-BE49-F238E27FC236}">
                <a16:creationId xmlns:a16="http://schemas.microsoft.com/office/drawing/2014/main" id="{F62495E0-CB89-F28D-1190-29B97F8665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3:notes">
            <a:extLst>
              <a:ext uri="{FF2B5EF4-FFF2-40B4-BE49-F238E27FC236}">
                <a16:creationId xmlns:a16="http://schemas.microsoft.com/office/drawing/2014/main" id="{8A74000E-019B-5ADF-823A-3EF0484A6A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929293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98F994AF-EFC4-1497-0D3A-44139BE3AD15}"/>
            </a:ext>
          </a:extLst>
        </p:cNvPr>
        <p:cNvGrpSpPr/>
        <p:nvPr/>
      </p:nvGrpSpPr>
      <p:grpSpPr>
        <a:xfrm>
          <a:off x="0" y="0"/>
          <a:ext cx="0" cy="0"/>
          <a:chOff x="0" y="0"/>
          <a:chExt cx="0" cy="0"/>
        </a:xfrm>
      </p:grpSpPr>
      <p:sp>
        <p:nvSpPr>
          <p:cNvPr id="233" name="Google Shape;233;p16:notes">
            <a:extLst>
              <a:ext uri="{FF2B5EF4-FFF2-40B4-BE49-F238E27FC236}">
                <a16:creationId xmlns:a16="http://schemas.microsoft.com/office/drawing/2014/main" id="{73253DB7-B51D-D70C-2E19-288C3EC67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6:notes">
            <a:extLst>
              <a:ext uri="{FF2B5EF4-FFF2-40B4-BE49-F238E27FC236}">
                <a16:creationId xmlns:a16="http://schemas.microsoft.com/office/drawing/2014/main" id="{688AC52E-5AC2-3E52-8B49-1719721411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3073358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FB49EF9D-F5F4-2F3C-91AF-2CF92F60CE8D}"/>
            </a:ext>
          </a:extLst>
        </p:cNvPr>
        <p:cNvGrpSpPr/>
        <p:nvPr/>
      </p:nvGrpSpPr>
      <p:grpSpPr>
        <a:xfrm>
          <a:off x="0" y="0"/>
          <a:ext cx="0" cy="0"/>
          <a:chOff x="0" y="0"/>
          <a:chExt cx="0" cy="0"/>
        </a:xfrm>
      </p:grpSpPr>
      <p:sp>
        <p:nvSpPr>
          <p:cNvPr id="244" name="Google Shape;244;p17:notes">
            <a:extLst>
              <a:ext uri="{FF2B5EF4-FFF2-40B4-BE49-F238E27FC236}">
                <a16:creationId xmlns:a16="http://schemas.microsoft.com/office/drawing/2014/main" id="{927BEAEB-F777-BA10-6B90-2A99AD5820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17:notes">
            <a:extLst>
              <a:ext uri="{FF2B5EF4-FFF2-40B4-BE49-F238E27FC236}">
                <a16:creationId xmlns:a16="http://schemas.microsoft.com/office/drawing/2014/main" id="{6AA931F1-D777-A4CD-CEC6-52EFED106E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1967493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C4302CFA-8518-F65F-3DF3-45CB54E6AD67}"/>
            </a:ext>
          </a:extLst>
        </p:cNvPr>
        <p:cNvGrpSpPr/>
        <p:nvPr/>
      </p:nvGrpSpPr>
      <p:grpSpPr>
        <a:xfrm>
          <a:off x="0" y="0"/>
          <a:ext cx="0" cy="0"/>
          <a:chOff x="0" y="0"/>
          <a:chExt cx="0" cy="0"/>
        </a:xfrm>
      </p:grpSpPr>
      <p:sp>
        <p:nvSpPr>
          <p:cNvPr id="265" name="Google Shape;265;p19:notes">
            <a:extLst>
              <a:ext uri="{FF2B5EF4-FFF2-40B4-BE49-F238E27FC236}">
                <a16:creationId xmlns:a16="http://schemas.microsoft.com/office/drawing/2014/main" id="{B548991A-4086-1F6C-0748-5D89376924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a:extLst>
              <a:ext uri="{FF2B5EF4-FFF2-40B4-BE49-F238E27FC236}">
                <a16:creationId xmlns:a16="http://schemas.microsoft.com/office/drawing/2014/main" id="{36514A3F-C9BB-A369-5115-5F73A98A2B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92499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7AF5F30E-C2AB-2B62-BB68-D5BA638664E3}"/>
            </a:ext>
          </a:extLst>
        </p:cNvPr>
        <p:cNvGrpSpPr/>
        <p:nvPr/>
      </p:nvGrpSpPr>
      <p:grpSpPr>
        <a:xfrm>
          <a:off x="0" y="0"/>
          <a:ext cx="0" cy="0"/>
          <a:chOff x="0" y="0"/>
          <a:chExt cx="0" cy="0"/>
        </a:xfrm>
      </p:grpSpPr>
      <p:sp>
        <p:nvSpPr>
          <p:cNvPr id="265" name="Google Shape;265;p19:notes">
            <a:extLst>
              <a:ext uri="{FF2B5EF4-FFF2-40B4-BE49-F238E27FC236}">
                <a16:creationId xmlns:a16="http://schemas.microsoft.com/office/drawing/2014/main" id="{07B2DEBB-F904-51F4-F2B1-3CB157EC98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a:extLst>
              <a:ext uri="{FF2B5EF4-FFF2-40B4-BE49-F238E27FC236}">
                <a16:creationId xmlns:a16="http://schemas.microsoft.com/office/drawing/2014/main" id="{654A1EA8-90F4-327F-0B01-2F5AF865BF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822479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44EBDD87-7654-7507-0BA1-E522F991967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BA5C858-BFA1-5F01-CDA0-CDD0EDD5BD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ED0E2549-A0BF-5D6F-5E84-9FCE7EE80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5254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91190463-F2DF-B0AC-0096-0696B26495B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66450F0-8D35-F649-4E3D-BC5FDDAA7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CC135A5A-849D-695F-1A4C-D5A87CBD2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3362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91190463-F2DF-B0AC-0096-0696B26495B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66450F0-8D35-F649-4E3D-BC5FDDAA7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CC135A5A-849D-695F-1A4C-D5A87CBD2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6807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91190463-F2DF-B0AC-0096-0696B26495B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66450F0-8D35-F649-4E3D-BC5FDDAA7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CC135A5A-849D-695F-1A4C-D5A87CBD2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0752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91190463-F2DF-B0AC-0096-0696B26495B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66450F0-8D35-F649-4E3D-BC5FDDAA7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CC135A5A-849D-695F-1A4C-D5A87CBD2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759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91190463-F2DF-B0AC-0096-0696B26495B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66450F0-8D35-F649-4E3D-BC5FDDAA7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CC135A5A-849D-695F-1A4C-D5A87CBD2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7895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91190463-F2DF-B0AC-0096-0696B26495B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66450F0-8D35-F649-4E3D-BC5FDDAA7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CC135A5A-849D-695F-1A4C-D5A87CBD2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0635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91190463-F2DF-B0AC-0096-0696B26495B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66450F0-8D35-F649-4E3D-BC5FDDAA7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CC135A5A-849D-695F-1A4C-D5A87CBD2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4471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11B982AA-0467-9629-DCC9-03C0E5D7C696}"/>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65A84F96-A6CB-E766-AFAB-ED08D3142C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AB4C1514-0E21-9831-875E-97832A7BBC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683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2B208CBE-35F4-6848-94A5-EE3D079F97F5}"/>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EDCA69F3-B199-CE39-C21B-29A6DA412D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7" name="Google Shape;857;p76:notes">
            <a:extLst>
              <a:ext uri="{FF2B5EF4-FFF2-40B4-BE49-F238E27FC236}">
                <a16:creationId xmlns:a16="http://schemas.microsoft.com/office/drawing/2014/main" id="{67BB9924-39FD-9E17-56E7-5720BC4493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0394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7" name="Google Shape;907;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white">
  <p:cSld name="BLANK_1">
    <p:bg>
      <p:bgPr>
        <a:gradFill>
          <a:gsLst>
            <a:gs pos="0">
              <a:schemeClr val="lt1"/>
            </a:gs>
            <a:gs pos="50000">
              <a:schemeClr val="lt1"/>
            </a:gs>
            <a:gs pos="100000">
              <a:schemeClr val="lt2"/>
            </a:gs>
          </a:gsLst>
          <a:path path="circle">
            <a:fillToRect l="100000" b="100000"/>
          </a:path>
          <a:tileRect t="-100000" r="-100000"/>
        </a:gradFill>
        <a:effectLst/>
      </p:bgPr>
    </p:bg>
    <p:spTree>
      <p:nvGrpSpPr>
        <p:cNvPr id="1" name="Shape 9"/>
        <p:cNvGrpSpPr/>
        <p:nvPr/>
      </p:nvGrpSpPr>
      <p:grpSpPr>
        <a:xfrm>
          <a:off x="0" y="0"/>
          <a:ext cx="0" cy="0"/>
          <a:chOff x="0" y="0"/>
          <a:chExt cx="0" cy="0"/>
        </a:xfrm>
      </p:grpSpPr>
      <p:sp>
        <p:nvSpPr>
          <p:cNvPr id="10" name="Google Shape;10;p84"/>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t>‹#›</a:t>
            </a:fld>
            <a:endParaRPr lang="en-US"/>
          </a:p>
        </p:txBody>
      </p:sp>
      <p:sp>
        <p:nvSpPr>
          <p:cNvPr id="11" name="Google Shape;11;p84"/>
          <p:cNvSpPr/>
          <p:nvPr/>
        </p:nvSpPr>
        <p:spPr>
          <a:xfrm>
            <a:off x="487675" y="0"/>
            <a:ext cx="8656320" cy="5143642"/>
          </a:xfrm>
          <a:custGeom>
            <a:avLst/>
            <a:gdLst/>
            <a:ahLst/>
            <a:cxnLst/>
            <a:rect l="l" t="t" r="r" b="b"/>
            <a:pathLst>
              <a:path w="12192000" h="6858190" extrusionOk="0">
                <a:moveTo>
                  <a:pt x="6873113" y="0"/>
                </a:moveTo>
                <a:lnTo>
                  <a:pt x="6454013" y="0"/>
                </a:lnTo>
                <a:lnTo>
                  <a:pt x="6652959" y="209550"/>
                </a:lnTo>
                <a:close/>
                <a:moveTo>
                  <a:pt x="8826818" y="0"/>
                </a:moveTo>
                <a:lnTo>
                  <a:pt x="8412861" y="0"/>
                </a:lnTo>
                <a:lnTo>
                  <a:pt x="8609330" y="206693"/>
                </a:lnTo>
                <a:close/>
                <a:moveTo>
                  <a:pt x="4919345" y="0"/>
                </a:moveTo>
                <a:lnTo>
                  <a:pt x="4494594" y="0"/>
                </a:lnTo>
                <a:lnTo>
                  <a:pt x="4696143" y="212090"/>
                </a:lnTo>
                <a:close/>
                <a:moveTo>
                  <a:pt x="10780395" y="0"/>
                </a:moveTo>
                <a:lnTo>
                  <a:pt x="10371836" y="0"/>
                </a:lnTo>
                <a:lnTo>
                  <a:pt x="10565702" y="204026"/>
                </a:lnTo>
                <a:close/>
                <a:moveTo>
                  <a:pt x="2965450" y="0"/>
                </a:moveTo>
                <a:lnTo>
                  <a:pt x="2535428" y="0"/>
                </a:lnTo>
                <a:lnTo>
                  <a:pt x="2739517" y="214821"/>
                </a:lnTo>
                <a:close/>
                <a:moveTo>
                  <a:pt x="1011873" y="0"/>
                </a:moveTo>
                <a:lnTo>
                  <a:pt x="576263" y="0"/>
                </a:lnTo>
                <a:lnTo>
                  <a:pt x="782955" y="217551"/>
                </a:lnTo>
                <a:close/>
                <a:moveTo>
                  <a:pt x="12192000" y="0"/>
                </a:moveTo>
                <a:lnTo>
                  <a:pt x="11601450" y="0"/>
                </a:lnTo>
                <a:lnTo>
                  <a:pt x="11248390" y="21336"/>
                </a:lnTo>
                <a:lnTo>
                  <a:pt x="11250803" y="0"/>
                </a:lnTo>
                <a:lnTo>
                  <a:pt x="11227816" y="0"/>
                </a:lnTo>
                <a:lnTo>
                  <a:pt x="11248136" y="21336"/>
                </a:lnTo>
                <a:lnTo>
                  <a:pt x="11248136" y="21654"/>
                </a:lnTo>
                <a:lnTo>
                  <a:pt x="11481244" y="266700"/>
                </a:lnTo>
                <a:lnTo>
                  <a:pt x="11031410" y="694182"/>
                </a:lnTo>
                <a:lnTo>
                  <a:pt x="11261979" y="936879"/>
                </a:lnTo>
                <a:lnTo>
                  <a:pt x="10219055" y="999871"/>
                </a:lnTo>
                <a:lnTo>
                  <a:pt x="10330942" y="0"/>
                </a:lnTo>
                <a:lnTo>
                  <a:pt x="9690100" y="0"/>
                </a:lnTo>
                <a:lnTo>
                  <a:pt x="9292272" y="24067"/>
                </a:lnTo>
                <a:lnTo>
                  <a:pt x="9294940" y="0"/>
                </a:lnTo>
                <a:lnTo>
                  <a:pt x="9269095" y="0"/>
                </a:lnTo>
                <a:lnTo>
                  <a:pt x="9291955" y="24067"/>
                </a:lnTo>
                <a:lnTo>
                  <a:pt x="9291955" y="24067"/>
                </a:lnTo>
                <a:lnTo>
                  <a:pt x="9525000" y="269177"/>
                </a:lnTo>
                <a:lnTo>
                  <a:pt x="9074785" y="696595"/>
                </a:lnTo>
                <a:lnTo>
                  <a:pt x="9305417" y="939292"/>
                </a:lnTo>
                <a:lnTo>
                  <a:pt x="8262494" y="1002348"/>
                </a:lnTo>
                <a:lnTo>
                  <a:pt x="8374634" y="0"/>
                </a:lnTo>
                <a:lnTo>
                  <a:pt x="7778052" y="0"/>
                </a:lnTo>
                <a:lnTo>
                  <a:pt x="7335520" y="26734"/>
                </a:lnTo>
                <a:lnTo>
                  <a:pt x="7338505" y="0"/>
                </a:lnTo>
                <a:lnTo>
                  <a:pt x="7309739" y="0"/>
                </a:lnTo>
                <a:lnTo>
                  <a:pt x="7335139" y="26797"/>
                </a:lnTo>
                <a:lnTo>
                  <a:pt x="7335139" y="26797"/>
                </a:lnTo>
                <a:lnTo>
                  <a:pt x="7567740" y="271590"/>
                </a:lnTo>
                <a:lnTo>
                  <a:pt x="7118350" y="699326"/>
                </a:lnTo>
                <a:lnTo>
                  <a:pt x="7348919" y="942023"/>
                </a:lnTo>
                <a:lnTo>
                  <a:pt x="6305995" y="1005078"/>
                </a:lnTo>
                <a:lnTo>
                  <a:pt x="6418390" y="0"/>
                </a:lnTo>
                <a:lnTo>
                  <a:pt x="5866257" y="0"/>
                </a:lnTo>
                <a:lnTo>
                  <a:pt x="5378895" y="29464"/>
                </a:lnTo>
                <a:lnTo>
                  <a:pt x="5382197" y="0"/>
                </a:lnTo>
                <a:lnTo>
                  <a:pt x="5350447" y="0"/>
                </a:lnTo>
                <a:lnTo>
                  <a:pt x="5378450" y="29464"/>
                </a:lnTo>
                <a:lnTo>
                  <a:pt x="5378768" y="29782"/>
                </a:lnTo>
                <a:lnTo>
                  <a:pt x="5611495" y="274574"/>
                </a:lnTo>
                <a:lnTo>
                  <a:pt x="5161598" y="701993"/>
                </a:lnTo>
                <a:lnTo>
                  <a:pt x="5392230" y="944753"/>
                </a:lnTo>
                <a:lnTo>
                  <a:pt x="4349306" y="1007745"/>
                </a:lnTo>
                <a:lnTo>
                  <a:pt x="4462082" y="0"/>
                </a:lnTo>
                <a:lnTo>
                  <a:pt x="3954463" y="0"/>
                </a:lnTo>
                <a:lnTo>
                  <a:pt x="3422650" y="32131"/>
                </a:lnTo>
                <a:lnTo>
                  <a:pt x="3425889" y="0"/>
                </a:lnTo>
                <a:lnTo>
                  <a:pt x="3391408" y="0"/>
                </a:lnTo>
                <a:lnTo>
                  <a:pt x="3422015" y="32195"/>
                </a:lnTo>
                <a:lnTo>
                  <a:pt x="3422015" y="32195"/>
                </a:lnTo>
                <a:lnTo>
                  <a:pt x="3654616" y="277051"/>
                </a:lnTo>
                <a:lnTo>
                  <a:pt x="3205036" y="704850"/>
                </a:lnTo>
                <a:lnTo>
                  <a:pt x="3435350" y="947420"/>
                </a:lnTo>
                <a:lnTo>
                  <a:pt x="2392680" y="1010476"/>
                </a:lnTo>
                <a:lnTo>
                  <a:pt x="2505774" y="0"/>
                </a:lnTo>
                <a:lnTo>
                  <a:pt x="2042605" y="0"/>
                </a:lnTo>
                <a:lnTo>
                  <a:pt x="1465707" y="34862"/>
                </a:lnTo>
                <a:lnTo>
                  <a:pt x="1469644" y="0"/>
                </a:lnTo>
                <a:lnTo>
                  <a:pt x="1432243" y="0"/>
                </a:lnTo>
                <a:lnTo>
                  <a:pt x="1465390" y="34862"/>
                </a:lnTo>
                <a:lnTo>
                  <a:pt x="1465390" y="34862"/>
                </a:lnTo>
                <a:lnTo>
                  <a:pt x="1697990" y="279654"/>
                </a:lnTo>
                <a:lnTo>
                  <a:pt x="1248410" y="707454"/>
                </a:lnTo>
                <a:lnTo>
                  <a:pt x="1479042" y="950151"/>
                </a:lnTo>
                <a:lnTo>
                  <a:pt x="436118" y="1013143"/>
                </a:lnTo>
                <a:lnTo>
                  <a:pt x="549529" y="0"/>
                </a:lnTo>
                <a:lnTo>
                  <a:pt x="130810" y="0"/>
                </a:lnTo>
                <a:lnTo>
                  <a:pt x="0" y="7938"/>
                </a:lnTo>
                <a:lnTo>
                  <a:pt x="0" y="961454"/>
                </a:lnTo>
                <a:lnTo>
                  <a:pt x="203200" y="768350"/>
                </a:lnTo>
                <a:lnTo>
                  <a:pt x="435800" y="1013143"/>
                </a:lnTo>
                <a:lnTo>
                  <a:pt x="435800" y="1013143"/>
                </a:lnTo>
                <a:lnTo>
                  <a:pt x="668465" y="1257935"/>
                </a:lnTo>
                <a:lnTo>
                  <a:pt x="218821" y="1685735"/>
                </a:lnTo>
                <a:lnTo>
                  <a:pt x="680339" y="2171700"/>
                </a:lnTo>
                <a:lnTo>
                  <a:pt x="1130300" y="1743964"/>
                </a:lnTo>
                <a:lnTo>
                  <a:pt x="1362901" y="1988757"/>
                </a:lnTo>
                <a:lnTo>
                  <a:pt x="1362901" y="1989074"/>
                </a:lnTo>
                <a:lnTo>
                  <a:pt x="1595501" y="2233867"/>
                </a:lnTo>
                <a:lnTo>
                  <a:pt x="1145604" y="2661349"/>
                </a:lnTo>
                <a:lnTo>
                  <a:pt x="1607122" y="3147060"/>
                </a:lnTo>
                <a:lnTo>
                  <a:pt x="2057400" y="2719578"/>
                </a:lnTo>
                <a:lnTo>
                  <a:pt x="2290001" y="2964371"/>
                </a:lnTo>
                <a:lnTo>
                  <a:pt x="2290001" y="2964688"/>
                </a:lnTo>
                <a:lnTo>
                  <a:pt x="2522601" y="3209481"/>
                </a:lnTo>
                <a:lnTo>
                  <a:pt x="2072767" y="3636899"/>
                </a:lnTo>
                <a:lnTo>
                  <a:pt x="2534222" y="4122611"/>
                </a:lnTo>
                <a:lnTo>
                  <a:pt x="2984500" y="3695192"/>
                </a:lnTo>
                <a:lnTo>
                  <a:pt x="3217101" y="3939984"/>
                </a:lnTo>
                <a:lnTo>
                  <a:pt x="3217101" y="3939984"/>
                </a:lnTo>
                <a:lnTo>
                  <a:pt x="3449701" y="4184841"/>
                </a:lnTo>
                <a:lnTo>
                  <a:pt x="2999867" y="4612259"/>
                </a:lnTo>
                <a:lnTo>
                  <a:pt x="3461385" y="5097971"/>
                </a:lnTo>
                <a:lnTo>
                  <a:pt x="3911219" y="4670489"/>
                </a:lnTo>
                <a:lnTo>
                  <a:pt x="4143820" y="4915345"/>
                </a:lnTo>
                <a:lnTo>
                  <a:pt x="4144137" y="4915345"/>
                </a:lnTo>
                <a:lnTo>
                  <a:pt x="4376738" y="5160137"/>
                </a:lnTo>
                <a:lnTo>
                  <a:pt x="3926777" y="5588000"/>
                </a:lnTo>
                <a:lnTo>
                  <a:pt x="4388295" y="6073712"/>
                </a:lnTo>
                <a:lnTo>
                  <a:pt x="4838129" y="5646230"/>
                </a:lnTo>
                <a:lnTo>
                  <a:pt x="5070793" y="5891022"/>
                </a:lnTo>
                <a:lnTo>
                  <a:pt x="5070793" y="5891022"/>
                </a:lnTo>
                <a:lnTo>
                  <a:pt x="5303393" y="6135815"/>
                </a:lnTo>
                <a:lnTo>
                  <a:pt x="4853496" y="6563297"/>
                </a:lnTo>
                <a:lnTo>
                  <a:pt x="5132896" y="6857556"/>
                </a:lnTo>
                <a:lnTo>
                  <a:pt x="5516245" y="6857556"/>
                </a:lnTo>
                <a:lnTo>
                  <a:pt x="5764657" y="6621526"/>
                </a:lnTo>
                <a:lnTo>
                  <a:pt x="5989447" y="6858000"/>
                </a:lnTo>
                <a:lnTo>
                  <a:pt x="5999036" y="6858000"/>
                </a:lnTo>
                <a:lnTo>
                  <a:pt x="6114288" y="5828411"/>
                </a:lnTo>
                <a:lnTo>
                  <a:pt x="6344857" y="6071108"/>
                </a:lnTo>
                <a:lnTo>
                  <a:pt x="6794500" y="5643690"/>
                </a:lnTo>
                <a:lnTo>
                  <a:pt x="7027101" y="5888482"/>
                </a:lnTo>
                <a:lnTo>
                  <a:pt x="7027101" y="5888482"/>
                </a:lnTo>
                <a:lnTo>
                  <a:pt x="7259701" y="6133338"/>
                </a:lnTo>
                <a:lnTo>
                  <a:pt x="6809868" y="6560756"/>
                </a:lnTo>
                <a:lnTo>
                  <a:pt x="7040499" y="6803454"/>
                </a:lnTo>
                <a:lnTo>
                  <a:pt x="6142927" y="6858000"/>
                </a:lnTo>
                <a:lnTo>
                  <a:pt x="7035229" y="6858000"/>
                </a:lnTo>
                <a:lnTo>
                  <a:pt x="7041261" y="6804025"/>
                </a:lnTo>
                <a:lnTo>
                  <a:pt x="7092569" y="6858000"/>
                </a:lnTo>
                <a:lnTo>
                  <a:pt x="7470457" y="6858000"/>
                </a:lnTo>
                <a:lnTo>
                  <a:pt x="7721727" y="6619240"/>
                </a:lnTo>
                <a:lnTo>
                  <a:pt x="7948549" y="6858000"/>
                </a:lnTo>
                <a:lnTo>
                  <a:pt x="7955344" y="6858000"/>
                </a:lnTo>
                <a:lnTo>
                  <a:pt x="8070850" y="5825681"/>
                </a:lnTo>
                <a:lnTo>
                  <a:pt x="8301482" y="6068378"/>
                </a:lnTo>
                <a:lnTo>
                  <a:pt x="8751316" y="5640959"/>
                </a:lnTo>
                <a:lnTo>
                  <a:pt x="8983917" y="5885752"/>
                </a:lnTo>
                <a:lnTo>
                  <a:pt x="8983917" y="5886069"/>
                </a:lnTo>
                <a:lnTo>
                  <a:pt x="9216517" y="6130862"/>
                </a:lnTo>
                <a:lnTo>
                  <a:pt x="8766619" y="6558281"/>
                </a:lnTo>
                <a:lnTo>
                  <a:pt x="8997252" y="6801041"/>
                </a:lnTo>
                <a:lnTo>
                  <a:pt x="8054404" y="6858191"/>
                </a:lnTo>
                <a:lnTo>
                  <a:pt x="8991600" y="6858191"/>
                </a:lnTo>
                <a:lnTo>
                  <a:pt x="8997950" y="6801485"/>
                </a:lnTo>
                <a:lnTo>
                  <a:pt x="9051861" y="6858191"/>
                </a:lnTo>
                <a:lnTo>
                  <a:pt x="9424353" y="6858191"/>
                </a:lnTo>
                <a:lnTo>
                  <a:pt x="9678353" y="6616891"/>
                </a:lnTo>
                <a:lnTo>
                  <a:pt x="9907715" y="6858191"/>
                </a:lnTo>
                <a:lnTo>
                  <a:pt x="9911588" y="6858191"/>
                </a:lnTo>
                <a:lnTo>
                  <a:pt x="10027476" y="5823141"/>
                </a:lnTo>
                <a:lnTo>
                  <a:pt x="10258044" y="6065838"/>
                </a:lnTo>
                <a:lnTo>
                  <a:pt x="10707942" y="5638356"/>
                </a:lnTo>
                <a:lnTo>
                  <a:pt x="10940542" y="5883212"/>
                </a:lnTo>
                <a:lnTo>
                  <a:pt x="10940542" y="5883212"/>
                </a:lnTo>
                <a:lnTo>
                  <a:pt x="11173143" y="6128004"/>
                </a:lnTo>
                <a:lnTo>
                  <a:pt x="10723308" y="6555486"/>
                </a:lnTo>
                <a:lnTo>
                  <a:pt x="10953877" y="6798183"/>
                </a:lnTo>
                <a:lnTo>
                  <a:pt x="9966261" y="6857873"/>
                </a:lnTo>
                <a:lnTo>
                  <a:pt x="10947527" y="6857873"/>
                </a:lnTo>
                <a:lnTo>
                  <a:pt x="10953877" y="6798437"/>
                </a:lnTo>
                <a:lnTo>
                  <a:pt x="11010900" y="6858000"/>
                </a:lnTo>
                <a:lnTo>
                  <a:pt x="11377930" y="6858000"/>
                </a:lnTo>
                <a:lnTo>
                  <a:pt x="11634915" y="6613843"/>
                </a:lnTo>
                <a:lnTo>
                  <a:pt x="11866880" y="6858000"/>
                </a:lnTo>
                <a:lnTo>
                  <a:pt x="11867896" y="6858000"/>
                </a:lnTo>
                <a:lnTo>
                  <a:pt x="11984038" y="5820283"/>
                </a:lnTo>
                <a:lnTo>
                  <a:pt x="12192000" y="6039168"/>
                </a:lnTo>
                <a:lnTo>
                  <a:pt x="12192000" y="5160328"/>
                </a:lnTo>
                <a:lnTo>
                  <a:pt x="11753152" y="5577269"/>
                </a:lnTo>
                <a:lnTo>
                  <a:pt x="11983783" y="5820029"/>
                </a:lnTo>
                <a:lnTo>
                  <a:pt x="10941050" y="5883021"/>
                </a:lnTo>
                <a:lnTo>
                  <a:pt x="11057255" y="4844669"/>
                </a:lnTo>
                <a:lnTo>
                  <a:pt x="11287823" y="5087430"/>
                </a:lnTo>
                <a:lnTo>
                  <a:pt x="11737721" y="4659948"/>
                </a:lnTo>
                <a:lnTo>
                  <a:pt x="11970321" y="4904740"/>
                </a:lnTo>
                <a:lnTo>
                  <a:pt x="11970321" y="4905058"/>
                </a:lnTo>
                <a:lnTo>
                  <a:pt x="12191936" y="5138230"/>
                </a:lnTo>
                <a:lnTo>
                  <a:pt x="12191936" y="4891342"/>
                </a:lnTo>
                <a:lnTo>
                  <a:pt x="11970385" y="4904740"/>
                </a:lnTo>
                <a:lnTo>
                  <a:pt x="12086590" y="3866388"/>
                </a:lnTo>
                <a:lnTo>
                  <a:pt x="12192000" y="3977259"/>
                </a:lnTo>
                <a:lnTo>
                  <a:pt x="12192000" y="3304159"/>
                </a:lnTo>
                <a:lnTo>
                  <a:pt x="11855450" y="3623628"/>
                </a:lnTo>
                <a:lnTo>
                  <a:pt x="12086082" y="3866388"/>
                </a:lnTo>
                <a:lnTo>
                  <a:pt x="11043158" y="3929380"/>
                </a:lnTo>
                <a:lnTo>
                  <a:pt x="11159363" y="2891028"/>
                </a:lnTo>
                <a:lnTo>
                  <a:pt x="11389931" y="3133725"/>
                </a:lnTo>
                <a:lnTo>
                  <a:pt x="11839829" y="2706307"/>
                </a:lnTo>
                <a:lnTo>
                  <a:pt x="12072430" y="2951099"/>
                </a:lnTo>
                <a:lnTo>
                  <a:pt x="12072430" y="2951417"/>
                </a:lnTo>
                <a:lnTo>
                  <a:pt x="12192000" y="3076385"/>
                </a:lnTo>
                <a:lnTo>
                  <a:pt x="12192000" y="2943670"/>
                </a:lnTo>
                <a:lnTo>
                  <a:pt x="12073065" y="2950845"/>
                </a:lnTo>
                <a:lnTo>
                  <a:pt x="12189269" y="1912493"/>
                </a:lnTo>
                <a:lnTo>
                  <a:pt x="12192000" y="1915351"/>
                </a:lnTo>
                <a:lnTo>
                  <a:pt x="12192000" y="1447800"/>
                </a:lnTo>
                <a:lnTo>
                  <a:pt x="11958383" y="1670050"/>
                </a:lnTo>
                <a:lnTo>
                  <a:pt x="12189016" y="1912747"/>
                </a:lnTo>
                <a:lnTo>
                  <a:pt x="11146092" y="1975803"/>
                </a:lnTo>
                <a:lnTo>
                  <a:pt x="11262296" y="937451"/>
                </a:lnTo>
                <a:lnTo>
                  <a:pt x="11492865" y="1180148"/>
                </a:lnTo>
                <a:lnTo>
                  <a:pt x="11942762" y="752729"/>
                </a:lnTo>
                <a:lnTo>
                  <a:pt x="12175363" y="996950"/>
                </a:lnTo>
                <a:lnTo>
                  <a:pt x="12175363" y="997268"/>
                </a:lnTo>
                <a:lnTo>
                  <a:pt x="12191746" y="1014476"/>
                </a:lnTo>
                <a:lnTo>
                  <a:pt x="12191746" y="995934"/>
                </a:lnTo>
                <a:lnTo>
                  <a:pt x="12175427" y="996950"/>
                </a:lnTo>
                <a:lnTo>
                  <a:pt x="12191746" y="850900"/>
                </a:lnTo>
                <a:close/>
                <a:moveTo>
                  <a:pt x="9305671" y="939800"/>
                </a:moveTo>
                <a:lnTo>
                  <a:pt x="9536303" y="1182497"/>
                </a:lnTo>
                <a:lnTo>
                  <a:pt x="9986137" y="755015"/>
                </a:lnTo>
                <a:lnTo>
                  <a:pt x="10218738" y="999871"/>
                </a:lnTo>
                <a:lnTo>
                  <a:pt x="10218738" y="999871"/>
                </a:lnTo>
                <a:lnTo>
                  <a:pt x="10451656" y="1244600"/>
                </a:lnTo>
                <a:lnTo>
                  <a:pt x="10001758" y="1672082"/>
                </a:lnTo>
                <a:lnTo>
                  <a:pt x="10232390" y="1914779"/>
                </a:lnTo>
                <a:lnTo>
                  <a:pt x="9189466" y="1977835"/>
                </a:lnTo>
                <a:close/>
                <a:moveTo>
                  <a:pt x="10129774" y="3868991"/>
                </a:moveTo>
                <a:lnTo>
                  <a:pt x="9086850" y="3931857"/>
                </a:lnTo>
                <a:lnTo>
                  <a:pt x="9203055" y="2893505"/>
                </a:lnTo>
                <a:lnTo>
                  <a:pt x="9433687" y="3136202"/>
                </a:lnTo>
                <a:lnTo>
                  <a:pt x="9883521" y="2708783"/>
                </a:lnTo>
                <a:lnTo>
                  <a:pt x="10116185" y="2953576"/>
                </a:lnTo>
                <a:lnTo>
                  <a:pt x="10116185" y="2953576"/>
                </a:lnTo>
                <a:lnTo>
                  <a:pt x="10348785" y="3198368"/>
                </a:lnTo>
                <a:lnTo>
                  <a:pt x="9899142" y="3625850"/>
                </a:lnTo>
                <a:close/>
                <a:moveTo>
                  <a:pt x="8956548" y="1733169"/>
                </a:moveTo>
                <a:lnTo>
                  <a:pt x="9189148" y="1977962"/>
                </a:lnTo>
                <a:lnTo>
                  <a:pt x="9189466" y="1978279"/>
                </a:lnTo>
                <a:lnTo>
                  <a:pt x="9422067" y="2223072"/>
                </a:lnTo>
                <a:lnTo>
                  <a:pt x="8972169" y="2650490"/>
                </a:lnTo>
                <a:lnTo>
                  <a:pt x="9202801" y="2893187"/>
                </a:lnTo>
                <a:lnTo>
                  <a:pt x="8159750" y="2956243"/>
                </a:lnTo>
                <a:lnTo>
                  <a:pt x="8276082" y="1917700"/>
                </a:lnTo>
                <a:lnTo>
                  <a:pt x="8506714" y="2160397"/>
                </a:lnTo>
                <a:close/>
                <a:moveTo>
                  <a:pt x="8173212" y="3871532"/>
                </a:moveTo>
                <a:lnTo>
                  <a:pt x="7130288" y="3934524"/>
                </a:lnTo>
                <a:lnTo>
                  <a:pt x="7246494" y="2896235"/>
                </a:lnTo>
                <a:lnTo>
                  <a:pt x="7477062" y="3138932"/>
                </a:lnTo>
                <a:lnTo>
                  <a:pt x="7926959" y="2711450"/>
                </a:lnTo>
                <a:lnTo>
                  <a:pt x="8159750" y="2956243"/>
                </a:lnTo>
                <a:lnTo>
                  <a:pt x="8159750" y="2956560"/>
                </a:lnTo>
                <a:lnTo>
                  <a:pt x="8392414" y="3201353"/>
                </a:lnTo>
                <a:lnTo>
                  <a:pt x="7942517" y="3628834"/>
                </a:lnTo>
                <a:close/>
                <a:moveTo>
                  <a:pt x="7349109" y="942277"/>
                </a:moveTo>
                <a:lnTo>
                  <a:pt x="7579678" y="1185037"/>
                </a:lnTo>
                <a:lnTo>
                  <a:pt x="8029575" y="757555"/>
                </a:lnTo>
                <a:lnTo>
                  <a:pt x="8262176" y="1002348"/>
                </a:lnTo>
                <a:lnTo>
                  <a:pt x="8262176" y="1002665"/>
                </a:lnTo>
                <a:lnTo>
                  <a:pt x="8494776" y="1247458"/>
                </a:lnTo>
                <a:lnTo>
                  <a:pt x="8045450" y="1674939"/>
                </a:lnTo>
                <a:lnTo>
                  <a:pt x="8275828" y="1917700"/>
                </a:lnTo>
                <a:lnTo>
                  <a:pt x="7232650" y="1980629"/>
                </a:lnTo>
                <a:close/>
                <a:moveTo>
                  <a:pt x="6999859" y="1736027"/>
                </a:moveTo>
                <a:lnTo>
                  <a:pt x="7232650" y="1980692"/>
                </a:lnTo>
                <a:lnTo>
                  <a:pt x="7232650" y="1980692"/>
                </a:lnTo>
                <a:lnTo>
                  <a:pt x="7465251" y="2225485"/>
                </a:lnTo>
                <a:lnTo>
                  <a:pt x="7015417" y="2652967"/>
                </a:lnTo>
                <a:lnTo>
                  <a:pt x="7245985" y="2895664"/>
                </a:lnTo>
                <a:lnTo>
                  <a:pt x="6203252" y="2959100"/>
                </a:lnTo>
                <a:lnTo>
                  <a:pt x="6319457" y="1920748"/>
                </a:lnTo>
                <a:lnTo>
                  <a:pt x="6550089" y="2163445"/>
                </a:lnTo>
                <a:close/>
                <a:moveTo>
                  <a:pt x="6216650" y="3874199"/>
                </a:moveTo>
                <a:lnTo>
                  <a:pt x="5173663" y="3937000"/>
                </a:lnTo>
                <a:lnTo>
                  <a:pt x="5289868" y="2898648"/>
                </a:lnTo>
                <a:lnTo>
                  <a:pt x="5520500" y="3141345"/>
                </a:lnTo>
                <a:lnTo>
                  <a:pt x="5970334" y="2713927"/>
                </a:lnTo>
                <a:lnTo>
                  <a:pt x="6202998" y="2959100"/>
                </a:lnTo>
                <a:lnTo>
                  <a:pt x="6202998" y="2959100"/>
                </a:lnTo>
                <a:lnTo>
                  <a:pt x="6435598" y="3203956"/>
                </a:lnTo>
                <a:lnTo>
                  <a:pt x="5985764" y="3631375"/>
                </a:lnTo>
                <a:close/>
                <a:moveTo>
                  <a:pt x="5392484" y="945007"/>
                </a:moveTo>
                <a:lnTo>
                  <a:pt x="5623116" y="1187450"/>
                </a:lnTo>
                <a:lnTo>
                  <a:pt x="6072950" y="760032"/>
                </a:lnTo>
                <a:lnTo>
                  <a:pt x="6305550" y="1005078"/>
                </a:lnTo>
                <a:lnTo>
                  <a:pt x="6305550" y="1005078"/>
                </a:lnTo>
                <a:lnTo>
                  <a:pt x="6538151" y="1249934"/>
                </a:lnTo>
                <a:lnTo>
                  <a:pt x="6088253" y="1677353"/>
                </a:lnTo>
                <a:lnTo>
                  <a:pt x="6318885" y="1920050"/>
                </a:lnTo>
                <a:lnTo>
                  <a:pt x="5275961" y="1983105"/>
                </a:lnTo>
                <a:close/>
                <a:moveTo>
                  <a:pt x="5043234" y="1738757"/>
                </a:moveTo>
                <a:lnTo>
                  <a:pt x="5275834" y="1983550"/>
                </a:lnTo>
                <a:lnTo>
                  <a:pt x="5275834" y="1983867"/>
                </a:lnTo>
                <a:lnTo>
                  <a:pt x="5508435" y="2228660"/>
                </a:lnTo>
                <a:lnTo>
                  <a:pt x="5058537" y="2656142"/>
                </a:lnTo>
                <a:lnTo>
                  <a:pt x="5289550" y="2898648"/>
                </a:lnTo>
                <a:lnTo>
                  <a:pt x="4246690" y="2961640"/>
                </a:lnTo>
                <a:lnTo>
                  <a:pt x="4362895" y="1923288"/>
                </a:lnTo>
                <a:lnTo>
                  <a:pt x="4593527" y="2166049"/>
                </a:lnTo>
                <a:close/>
                <a:moveTo>
                  <a:pt x="3435922" y="947738"/>
                </a:moveTo>
                <a:lnTo>
                  <a:pt x="3666490" y="1190435"/>
                </a:lnTo>
                <a:lnTo>
                  <a:pt x="4116388" y="762953"/>
                </a:lnTo>
                <a:lnTo>
                  <a:pt x="4348988" y="1007809"/>
                </a:lnTo>
                <a:lnTo>
                  <a:pt x="4348988" y="1007809"/>
                </a:lnTo>
                <a:lnTo>
                  <a:pt x="4581652" y="1252601"/>
                </a:lnTo>
                <a:lnTo>
                  <a:pt x="4131755" y="1680083"/>
                </a:lnTo>
                <a:lnTo>
                  <a:pt x="4362450" y="1923034"/>
                </a:lnTo>
                <a:lnTo>
                  <a:pt x="3319526" y="1986089"/>
                </a:lnTo>
                <a:close/>
                <a:moveTo>
                  <a:pt x="1363091" y="1988757"/>
                </a:moveTo>
                <a:lnTo>
                  <a:pt x="1479550" y="950405"/>
                </a:lnTo>
                <a:lnTo>
                  <a:pt x="1710182" y="1193102"/>
                </a:lnTo>
                <a:lnTo>
                  <a:pt x="2160016" y="765683"/>
                </a:lnTo>
                <a:lnTo>
                  <a:pt x="2392680" y="1010476"/>
                </a:lnTo>
                <a:lnTo>
                  <a:pt x="2392680" y="1010793"/>
                </a:lnTo>
                <a:lnTo>
                  <a:pt x="2625281" y="1255586"/>
                </a:lnTo>
                <a:lnTo>
                  <a:pt x="2175447" y="1682750"/>
                </a:lnTo>
                <a:lnTo>
                  <a:pt x="2406015" y="1925511"/>
                </a:lnTo>
                <a:close/>
                <a:moveTo>
                  <a:pt x="2290191" y="2964371"/>
                </a:moveTo>
                <a:lnTo>
                  <a:pt x="2406650" y="1926019"/>
                </a:lnTo>
                <a:lnTo>
                  <a:pt x="2637219" y="2168716"/>
                </a:lnTo>
                <a:lnTo>
                  <a:pt x="3087116" y="1741297"/>
                </a:lnTo>
                <a:lnTo>
                  <a:pt x="3319716" y="1986089"/>
                </a:lnTo>
                <a:lnTo>
                  <a:pt x="3319716" y="1986089"/>
                </a:lnTo>
                <a:lnTo>
                  <a:pt x="3552317" y="2230946"/>
                </a:lnTo>
                <a:lnTo>
                  <a:pt x="3102483" y="2658364"/>
                </a:lnTo>
                <a:lnTo>
                  <a:pt x="3333115" y="2901061"/>
                </a:lnTo>
                <a:close/>
                <a:moveTo>
                  <a:pt x="3217291" y="3939984"/>
                </a:moveTo>
                <a:lnTo>
                  <a:pt x="3333306" y="2901950"/>
                </a:lnTo>
                <a:lnTo>
                  <a:pt x="3563874" y="3144647"/>
                </a:lnTo>
                <a:lnTo>
                  <a:pt x="4013772" y="2717165"/>
                </a:lnTo>
                <a:lnTo>
                  <a:pt x="4246372" y="2962021"/>
                </a:lnTo>
                <a:lnTo>
                  <a:pt x="4246372" y="2962021"/>
                </a:lnTo>
                <a:lnTo>
                  <a:pt x="4479290" y="3206750"/>
                </a:lnTo>
                <a:lnTo>
                  <a:pt x="4029393" y="3634232"/>
                </a:lnTo>
                <a:lnTo>
                  <a:pt x="4260025" y="3876929"/>
                </a:lnTo>
                <a:close/>
                <a:moveTo>
                  <a:pt x="4144391" y="4915535"/>
                </a:moveTo>
                <a:lnTo>
                  <a:pt x="4260596" y="3877247"/>
                </a:lnTo>
                <a:lnTo>
                  <a:pt x="4491228" y="4119944"/>
                </a:lnTo>
                <a:lnTo>
                  <a:pt x="4941062" y="3692462"/>
                </a:lnTo>
                <a:lnTo>
                  <a:pt x="5173345" y="3937000"/>
                </a:lnTo>
                <a:lnTo>
                  <a:pt x="5173345" y="3937318"/>
                </a:lnTo>
                <a:lnTo>
                  <a:pt x="5405946" y="4182110"/>
                </a:lnTo>
                <a:lnTo>
                  <a:pt x="4956366" y="4610100"/>
                </a:lnTo>
                <a:lnTo>
                  <a:pt x="5186998" y="4852797"/>
                </a:lnTo>
                <a:close/>
                <a:moveTo>
                  <a:pt x="5883402" y="5585397"/>
                </a:moveTo>
                <a:lnTo>
                  <a:pt x="6113971" y="5828094"/>
                </a:lnTo>
                <a:lnTo>
                  <a:pt x="5071047" y="5891149"/>
                </a:lnTo>
                <a:lnTo>
                  <a:pt x="5187252" y="4852797"/>
                </a:lnTo>
                <a:lnTo>
                  <a:pt x="5417884" y="5095494"/>
                </a:lnTo>
                <a:lnTo>
                  <a:pt x="5867781" y="4668076"/>
                </a:lnTo>
                <a:lnTo>
                  <a:pt x="6100382" y="4912868"/>
                </a:lnTo>
                <a:lnTo>
                  <a:pt x="6100382" y="4913186"/>
                </a:lnTo>
                <a:lnTo>
                  <a:pt x="6332982" y="5157978"/>
                </a:lnTo>
                <a:close/>
                <a:moveTo>
                  <a:pt x="6100699" y="4912868"/>
                </a:moveTo>
                <a:lnTo>
                  <a:pt x="6216650" y="3874516"/>
                </a:lnTo>
                <a:lnTo>
                  <a:pt x="6447219" y="4117213"/>
                </a:lnTo>
                <a:lnTo>
                  <a:pt x="6897116" y="3689731"/>
                </a:lnTo>
                <a:lnTo>
                  <a:pt x="7129717" y="3934587"/>
                </a:lnTo>
                <a:lnTo>
                  <a:pt x="7129717" y="3934587"/>
                </a:lnTo>
                <a:lnTo>
                  <a:pt x="7362318" y="4179380"/>
                </a:lnTo>
                <a:lnTo>
                  <a:pt x="6912483" y="4606862"/>
                </a:lnTo>
                <a:lnTo>
                  <a:pt x="7143750" y="4849813"/>
                </a:lnTo>
                <a:close/>
                <a:moveTo>
                  <a:pt x="7839964" y="5582730"/>
                </a:moveTo>
                <a:lnTo>
                  <a:pt x="8070850" y="5825427"/>
                </a:lnTo>
                <a:lnTo>
                  <a:pt x="7027926" y="5888482"/>
                </a:lnTo>
                <a:lnTo>
                  <a:pt x="7143750" y="4850130"/>
                </a:lnTo>
                <a:lnTo>
                  <a:pt x="7374445" y="5092700"/>
                </a:lnTo>
                <a:lnTo>
                  <a:pt x="7824344" y="4665218"/>
                </a:lnTo>
                <a:lnTo>
                  <a:pt x="8056944" y="4910011"/>
                </a:lnTo>
                <a:lnTo>
                  <a:pt x="8056944" y="4910011"/>
                </a:lnTo>
                <a:lnTo>
                  <a:pt x="8289607" y="5154803"/>
                </a:lnTo>
                <a:close/>
                <a:moveTo>
                  <a:pt x="8057261" y="4910138"/>
                </a:moveTo>
                <a:lnTo>
                  <a:pt x="8173466" y="3871786"/>
                </a:lnTo>
                <a:lnTo>
                  <a:pt x="8404098" y="4114800"/>
                </a:lnTo>
                <a:lnTo>
                  <a:pt x="8853932" y="3687382"/>
                </a:lnTo>
                <a:lnTo>
                  <a:pt x="9086850" y="3931857"/>
                </a:lnTo>
                <a:lnTo>
                  <a:pt x="9086850" y="3931857"/>
                </a:lnTo>
                <a:lnTo>
                  <a:pt x="9319451" y="4176649"/>
                </a:lnTo>
                <a:lnTo>
                  <a:pt x="8869553" y="4604068"/>
                </a:lnTo>
                <a:lnTo>
                  <a:pt x="9100185" y="4846765"/>
                </a:lnTo>
                <a:close/>
                <a:moveTo>
                  <a:pt x="9796590" y="5579999"/>
                </a:moveTo>
                <a:lnTo>
                  <a:pt x="10027158" y="5822950"/>
                </a:lnTo>
                <a:lnTo>
                  <a:pt x="8984234" y="5886006"/>
                </a:lnTo>
                <a:lnTo>
                  <a:pt x="9100439" y="4847654"/>
                </a:lnTo>
                <a:lnTo>
                  <a:pt x="9331071" y="5090351"/>
                </a:lnTo>
                <a:lnTo>
                  <a:pt x="9780905" y="4662932"/>
                </a:lnTo>
                <a:lnTo>
                  <a:pt x="10013569" y="4907725"/>
                </a:lnTo>
                <a:lnTo>
                  <a:pt x="10013569" y="4907725"/>
                </a:lnTo>
                <a:lnTo>
                  <a:pt x="10246169" y="5152581"/>
                </a:lnTo>
                <a:close/>
                <a:moveTo>
                  <a:pt x="11276140" y="4174236"/>
                </a:moveTo>
                <a:lnTo>
                  <a:pt x="10826306" y="4601718"/>
                </a:lnTo>
                <a:lnTo>
                  <a:pt x="11056874" y="4844415"/>
                </a:lnTo>
                <a:lnTo>
                  <a:pt x="10013950" y="4907471"/>
                </a:lnTo>
                <a:lnTo>
                  <a:pt x="10130155" y="3869119"/>
                </a:lnTo>
                <a:lnTo>
                  <a:pt x="10360787" y="4111816"/>
                </a:lnTo>
                <a:lnTo>
                  <a:pt x="10810684" y="3684334"/>
                </a:lnTo>
                <a:lnTo>
                  <a:pt x="11043285" y="3929126"/>
                </a:lnTo>
                <a:lnTo>
                  <a:pt x="11043285" y="3929126"/>
                </a:lnTo>
                <a:close/>
                <a:moveTo>
                  <a:pt x="11378756" y="2220341"/>
                </a:moveTo>
                <a:lnTo>
                  <a:pt x="10928794" y="2647950"/>
                </a:lnTo>
                <a:lnTo>
                  <a:pt x="11159363" y="2890647"/>
                </a:lnTo>
                <a:lnTo>
                  <a:pt x="10116439" y="2953639"/>
                </a:lnTo>
                <a:lnTo>
                  <a:pt x="10232644" y="1915351"/>
                </a:lnTo>
                <a:lnTo>
                  <a:pt x="10463276" y="2158048"/>
                </a:lnTo>
                <a:lnTo>
                  <a:pt x="10913173" y="1730566"/>
                </a:lnTo>
                <a:lnTo>
                  <a:pt x="11145774" y="1975358"/>
                </a:lnTo>
                <a:lnTo>
                  <a:pt x="11145774" y="1975676"/>
                </a:lnTo>
                <a:close/>
                <a:moveTo>
                  <a:pt x="12192000" y="6858000"/>
                </a:moveTo>
                <a:lnTo>
                  <a:pt x="12192000" y="6838950"/>
                </a:lnTo>
                <a:lnTo>
                  <a:pt x="11878310" y="6858000"/>
                </a:lnTo>
                <a:close/>
              </a:path>
            </a:pathLst>
          </a:custGeom>
          <a:gradFill>
            <a:gsLst>
              <a:gs pos="0">
                <a:schemeClr val="lt2"/>
              </a:gs>
              <a:gs pos="80000">
                <a:srgbClr val="FFFFFF">
                  <a:alpha val="0"/>
                </a:srgbClr>
              </a:gs>
              <a:gs pos="100000">
                <a:srgbClr val="FFFFFF">
                  <a:alpha val="0"/>
                </a:srgbClr>
              </a:gs>
            </a:gsLst>
            <a:lin ang="810001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gradFill>
          <a:gsLst>
            <a:gs pos="0">
              <a:schemeClr val="accent2"/>
            </a:gs>
            <a:gs pos="50000">
              <a:schemeClr val="accent3"/>
            </a:gs>
            <a:gs pos="100000">
              <a:schemeClr val="dk1"/>
            </a:gs>
          </a:gsLst>
          <a:path path="circle">
            <a:fillToRect l="100000" b="100000"/>
          </a:path>
          <a:tileRect t="-100000" r="-100000"/>
        </a:gradFill>
        <a:effectLst/>
      </p:bgPr>
    </p:bg>
    <p:spTree>
      <p:nvGrpSpPr>
        <p:cNvPr id="1" name="Shape 27"/>
        <p:cNvGrpSpPr/>
        <p:nvPr/>
      </p:nvGrpSpPr>
      <p:grpSpPr>
        <a:xfrm>
          <a:off x="0" y="0"/>
          <a:ext cx="0" cy="0"/>
          <a:chOff x="0" y="0"/>
          <a:chExt cx="0" cy="0"/>
        </a:xfrm>
      </p:grpSpPr>
      <p:sp>
        <p:nvSpPr>
          <p:cNvPr id="28" name="Google Shape;28;p88"/>
          <p:cNvSpPr/>
          <p:nvPr/>
        </p:nvSpPr>
        <p:spPr>
          <a:xfrm>
            <a:off x="487675" y="0"/>
            <a:ext cx="8656320" cy="5143642"/>
          </a:xfrm>
          <a:custGeom>
            <a:avLst/>
            <a:gdLst/>
            <a:ahLst/>
            <a:cxnLst/>
            <a:rect l="l" t="t" r="r" b="b"/>
            <a:pathLst>
              <a:path w="12192000" h="6858190" extrusionOk="0">
                <a:moveTo>
                  <a:pt x="6873113" y="0"/>
                </a:moveTo>
                <a:lnTo>
                  <a:pt x="6454013" y="0"/>
                </a:lnTo>
                <a:lnTo>
                  <a:pt x="6652959" y="209550"/>
                </a:lnTo>
                <a:close/>
                <a:moveTo>
                  <a:pt x="8826818" y="0"/>
                </a:moveTo>
                <a:lnTo>
                  <a:pt x="8412861" y="0"/>
                </a:lnTo>
                <a:lnTo>
                  <a:pt x="8609330" y="206693"/>
                </a:lnTo>
                <a:close/>
                <a:moveTo>
                  <a:pt x="4919345" y="0"/>
                </a:moveTo>
                <a:lnTo>
                  <a:pt x="4494594" y="0"/>
                </a:lnTo>
                <a:lnTo>
                  <a:pt x="4696143" y="212090"/>
                </a:lnTo>
                <a:close/>
                <a:moveTo>
                  <a:pt x="10780395" y="0"/>
                </a:moveTo>
                <a:lnTo>
                  <a:pt x="10371836" y="0"/>
                </a:lnTo>
                <a:lnTo>
                  <a:pt x="10565702" y="204026"/>
                </a:lnTo>
                <a:close/>
                <a:moveTo>
                  <a:pt x="2965450" y="0"/>
                </a:moveTo>
                <a:lnTo>
                  <a:pt x="2535428" y="0"/>
                </a:lnTo>
                <a:lnTo>
                  <a:pt x="2739517" y="214821"/>
                </a:lnTo>
                <a:close/>
                <a:moveTo>
                  <a:pt x="1011873" y="0"/>
                </a:moveTo>
                <a:lnTo>
                  <a:pt x="576263" y="0"/>
                </a:lnTo>
                <a:lnTo>
                  <a:pt x="782955" y="217551"/>
                </a:lnTo>
                <a:close/>
                <a:moveTo>
                  <a:pt x="12192000" y="0"/>
                </a:moveTo>
                <a:lnTo>
                  <a:pt x="11601450" y="0"/>
                </a:lnTo>
                <a:lnTo>
                  <a:pt x="11248390" y="21336"/>
                </a:lnTo>
                <a:lnTo>
                  <a:pt x="11250803" y="0"/>
                </a:lnTo>
                <a:lnTo>
                  <a:pt x="11227816" y="0"/>
                </a:lnTo>
                <a:lnTo>
                  <a:pt x="11248136" y="21336"/>
                </a:lnTo>
                <a:lnTo>
                  <a:pt x="11248136" y="21654"/>
                </a:lnTo>
                <a:lnTo>
                  <a:pt x="11481244" y="266700"/>
                </a:lnTo>
                <a:lnTo>
                  <a:pt x="11031410" y="694182"/>
                </a:lnTo>
                <a:lnTo>
                  <a:pt x="11261979" y="936879"/>
                </a:lnTo>
                <a:lnTo>
                  <a:pt x="10219055" y="999871"/>
                </a:lnTo>
                <a:lnTo>
                  <a:pt x="10330942" y="0"/>
                </a:lnTo>
                <a:lnTo>
                  <a:pt x="9690100" y="0"/>
                </a:lnTo>
                <a:lnTo>
                  <a:pt x="9292272" y="24067"/>
                </a:lnTo>
                <a:lnTo>
                  <a:pt x="9294940" y="0"/>
                </a:lnTo>
                <a:lnTo>
                  <a:pt x="9269095" y="0"/>
                </a:lnTo>
                <a:lnTo>
                  <a:pt x="9291955" y="24067"/>
                </a:lnTo>
                <a:lnTo>
                  <a:pt x="9291955" y="24067"/>
                </a:lnTo>
                <a:lnTo>
                  <a:pt x="9525000" y="269177"/>
                </a:lnTo>
                <a:lnTo>
                  <a:pt x="9074785" y="696595"/>
                </a:lnTo>
                <a:lnTo>
                  <a:pt x="9305417" y="939292"/>
                </a:lnTo>
                <a:lnTo>
                  <a:pt x="8262494" y="1002348"/>
                </a:lnTo>
                <a:lnTo>
                  <a:pt x="8374634" y="0"/>
                </a:lnTo>
                <a:lnTo>
                  <a:pt x="7778052" y="0"/>
                </a:lnTo>
                <a:lnTo>
                  <a:pt x="7335520" y="26734"/>
                </a:lnTo>
                <a:lnTo>
                  <a:pt x="7338505" y="0"/>
                </a:lnTo>
                <a:lnTo>
                  <a:pt x="7309739" y="0"/>
                </a:lnTo>
                <a:lnTo>
                  <a:pt x="7335139" y="26797"/>
                </a:lnTo>
                <a:lnTo>
                  <a:pt x="7335139" y="26797"/>
                </a:lnTo>
                <a:lnTo>
                  <a:pt x="7567740" y="271590"/>
                </a:lnTo>
                <a:lnTo>
                  <a:pt x="7118350" y="699326"/>
                </a:lnTo>
                <a:lnTo>
                  <a:pt x="7348919" y="942023"/>
                </a:lnTo>
                <a:lnTo>
                  <a:pt x="6305995" y="1005078"/>
                </a:lnTo>
                <a:lnTo>
                  <a:pt x="6418390" y="0"/>
                </a:lnTo>
                <a:lnTo>
                  <a:pt x="5866257" y="0"/>
                </a:lnTo>
                <a:lnTo>
                  <a:pt x="5378895" y="29464"/>
                </a:lnTo>
                <a:lnTo>
                  <a:pt x="5382197" y="0"/>
                </a:lnTo>
                <a:lnTo>
                  <a:pt x="5350447" y="0"/>
                </a:lnTo>
                <a:lnTo>
                  <a:pt x="5378450" y="29464"/>
                </a:lnTo>
                <a:lnTo>
                  <a:pt x="5378768" y="29782"/>
                </a:lnTo>
                <a:lnTo>
                  <a:pt x="5611495" y="274574"/>
                </a:lnTo>
                <a:lnTo>
                  <a:pt x="5161598" y="701993"/>
                </a:lnTo>
                <a:lnTo>
                  <a:pt x="5392230" y="944753"/>
                </a:lnTo>
                <a:lnTo>
                  <a:pt x="4349306" y="1007745"/>
                </a:lnTo>
                <a:lnTo>
                  <a:pt x="4462082" y="0"/>
                </a:lnTo>
                <a:lnTo>
                  <a:pt x="3954463" y="0"/>
                </a:lnTo>
                <a:lnTo>
                  <a:pt x="3422650" y="32131"/>
                </a:lnTo>
                <a:lnTo>
                  <a:pt x="3425889" y="0"/>
                </a:lnTo>
                <a:lnTo>
                  <a:pt x="3391408" y="0"/>
                </a:lnTo>
                <a:lnTo>
                  <a:pt x="3422015" y="32195"/>
                </a:lnTo>
                <a:lnTo>
                  <a:pt x="3422015" y="32195"/>
                </a:lnTo>
                <a:lnTo>
                  <a:pt x="3654616" y="277051"/>
                </a:lnTo>
                <a:lnTo>
                  <a:pt x="3205036" y="704850"/>
                </a:lnTo>
                <a:lnTo>
                  <a:pt x="3435350" y="947420"/>
                </a:lnTo>
                <a:lnTo>
                  <a:pt x="2392680" y="1010476"/>
                </a:lnTo>
                <a:lnTo>
                  <a:pt x="2505774" y="0"/>
                </a:lnTo>
                <a:lnTo>
                  <a:pt x="2042605" y="0"/>
                </a:lnTo>
                <a:lnTo>
                  <a:pt x="1465707" y="34862"/>
                </a:lnTo>
                <a:lnTo>
                  <a:pt x="1469644" y="0"/>
                </a:lnTo>
                <a:lnTo>
                  <a:pt x="1432243" y="0"/>
                </a:lnTo>
                <a:lnTo>
                  <a:pt x="1465390" y="34862"/>
                </a:lnTo>
                <a:lnTo>
                  <a:pt x="1465390" y="34862"/>
                </a:lnTo>
                <a:lnTo>
                  <a:pt x="1697990" y="279654"/>
                </a:lnTo>
                <a:lnTo>
                  <a:pt x="1248410" y="707454"/>
                </a:lnTo>
                <a:lnTo>
                  <a:pt x="1479042" y="950151"/>
                </a:lnTo>
                <a:lnTo>
                  <a:pt x="436118" y="1013143"/>
                </a:lnTo>
                <a:lnTo>
                  <a:pt x="549529" y="0"/>
                </a:lnTo>
                <a:lnTo>
                  <a:pt x="130810" y="0"/>
                </a:lnTo>
                <a:lnTo>
                  <a:pt x="0" y="7938"/>
                </a:lnTo>
                <a:lnTo>
                  <a:pt x="0" y="961454"/>
                </a:lnTo>
                <a:lnTo>
                  <a:pt x="203200" y="768350"/>
                </a:lnTo>
                <a:lnTo>
                  <a:pt x="435800" y="1013143"/>
                </a:lnTo>
                <a:lnTo>
                  <a:pt x="435800" y="1013143"/>
                </a:lnTo>
                <a:lnTo>
                  <a:pt x="668465" y="1257935"/>
                </a:lnTo>
                <a:lnTo>
                  <a:pt x="218821" y="1685735"/>
                </a:lnTo>
                <a:lnTo>
                  <a:pt x="680339" y="2171700"/>
                </a:lnTo>
                <a:lnTo>
                  <a:pt x="1130300" y="1743964"/>
                </a:lnTo>
                <a:lnTo>
                  <a:pt x="1362901" y="1988757"/>
                </a:lnTo>
                <a:lnTo>
                  <a:pt x="1362901" y="1989074"/>
                </a:lnTo>
                <a:lnTo>
                  <a:pt x="1595501" y="2233867"/>
                </a:lnTo>
                <a:lnTo>
                  <a:pt x="1145604" y="2661349"/>
                </a:lnTo>
                <a:lnTo>
                  <a:pt x="1607122" y="3147060"/>
                </a:lnTo>
                <a:lnTo>
                  <a:pt x="2057400" y="2719578"/>
                </a:lnTo>
                <a:lnTo>
                  <a:pt x="2290001" y="2964371"/>
                </a:lnTo>
                <a:lnTo>
                  <a:pt x="2290001" y="2964688"/>
                </a:lnTo>
                <a:lnTo>
                  <a:pt x="2522601" y="3209481"/>
                </a:lnTo>
                <a:lnTo>
                  <a:pt x="2072767" y="3636899"/>
                </a:lnTo>
                <a:lnTo>
                  <a:pt x="2534222" y="4122611"/>
                </a:lnTo>
                <a:lnTo>
                  <a:pt x="2984500" y="3695192"/>
                </a:lnTo>
                <a:lnTo>
                  <a:pt x="3217101" y="3939984"/>
                </a:lnTo>
                <a:lnTo>
                  <a:pt x="3217101" y="3939984"/>
                </a:lnTo>
                <a:lnTo>
                  <a:pt x="3449701" y="4184841"/>
                </a:lnTo>
                <a:lnTo>
                  <a:pt x="2999867" y="4612259"/>
                </a:lnTo>
                <a:lnTo>
                  <a:pt x="3461385" y="5097971"/>
                </a:lnTo>
                <a:lnTo>
                  <a:pt x="3911219" y="4670489"/>
                </a:lnTo>
                <a:lnTo>
                  <a:pt x="4143820" y="4915345"/>
                </a:lnTo>
                <a:lnTo>
                  <a:pt x="4144137" y="4915345"/>
                </a:lnTo>
                <a:lnTo>
                  <a:pt x="4376738" y="5160137"/>
                </a:lnTo>
                <a:lnTo>
                  <a:pt x="3926777" y="5588000"/>
                </a:lnTo>
                <a:lnTo>
                  <a:pt x="4388295" y="6073712"/>
                </a:lnTo>
                <a:lnTo>
                  <a:pt x="4838129" y="5646230"/>
                </a:lnTo>
                <a:lnTo>
                  <a:pt x="5070793" y="5891022"/>
                </a:lnTo>
                <a:lnTo>
                  <a:pt x="5070793" y="5891022"/>
                </a:lnTo>
                <a:lnTo>
                  <a:pt x="5303393" y="6135815"/>
                </a:lnTo>
                <a:lnTo>
                  <a:pt x="4853496" y="6563297"/>
                </a:lnTo>
                <a:lnTo>
                  <a:pt x="5132896" y="6857556"/>
                </a:lnTo>
                <a:lnTo>
                  <a:pt x="5516245" y="6857556"/>
                </a:lnTo>
                <a:lnTo>
                  <a:pt x="5764657" y="6621526"/>
                </a:lnTo>
                <a:lnTo>
                  <a:pt x="5989447" y="6858000"/>
                </a:lnTo>
                <a:lnTo>
                  <a:pt x="5999036" y="6858000"/>
                </a:lnTo>
                <a:lnTo>
                  <a:pt x="6114288" y="5828411"/>
                </a:lnTo>
                <a:lnTo>
                  <a:pt x="6344857" y="6071108"/>
                </a:lnTo>
                <a:lnTo>
                  <a:pt x="6794500" y="5643690"/>
                </a:lnTo>
                <a:lnTo>
                  <a:pt x="7027101" y="5888482"/>
                </a:lnTo>
                <a:lnTo>
                  <a:pt x="7027101" y="5888482"/>
                </a:lnTo>
                <a:lnTo>
                  <a:pt x="7259701" y="6133338"/>
                </a:lnTo>
                <a:lnTo>
                  <a:pt x="6809868" y="6560756"/>
                </a:lnTo>
                <a:lnTo>
                  <a:pt x="7040499" y="6803454"/>
                </a:lnTo>
                <a:lnTo>
                  <a:pt x="6142927" y="6858000"/>
                </a:lnTo>
                <a:lnTo>
                  <a:pt x="7035229" y="6858000"/>
                </a:lnTo>
                <a:lnTo>
                  <a:pt x="7041261" y="6804025"/>
                </a:lnTo>
                <a:lnTo>
                  <a:pt x="7092569" y="6858000"/>
                </a:lnTo>
                <a:lnTo>
                  <a:pt x="7470457" y="6858000"/>
                </a:lnTo>
                <a:lnTo>
                  <a:pt x="7721727" y="6619240"/>
                </a:lnTo>
                <a:lnTo>
                  <a:pt x="7948549" y="6858000"/>
                </a:lnTo>
                <a:lnTo>
                  <a:pt x="7955344" y="6858000"/>
                </a:lnTo>
                <a:lnTo>
                  <a:pt x="8070850" y="5825681"/>
                </a:lnTo>
                <a:lnTo>
                  <a:pt x="8301482" y="6068378"/>
                </a:lnTo>
                <a:lnTo>
                  <a:pt x="8751316" y="5640959"/>
                </a:lnTo>
                <a:lnTo>
                  <a:pt x="8983917" y="5885752"/>
                </a:lnTo>
                <a:lnTo>
                  <a:pt x="8983917" y="5886069"/>
                </a:lnTo>
                <a:lnTo>
                  <a:pt x="9216517" y="6130862"/>
                </a:lnTo>
                <a:lnTo>
                  <a:pt x="8766619" y="6558281"/>
                </a:lnTo>
                <a:lnTo>
                  <a:pt x="8997252" y="6801041"/>
                </a:lnTo>
                <a:lnTo>
                  <a:pt x="8054404" y="6858191"/>
                </a:lnTo>
                <a:lnTo>
                  <a:pt x="8991600" y="6858191"/>
                </a:lnTo>
                <a:lnTo>
                  <a:pt x="8997950" y="6801485"/>
                </a:lnTo>
                <a:lnTo>
                  <a:pt x="9051861" y="6858191"/>
                </a:lnTo>
                <a:lnTo>
                  <a:pt x="9424353" y="6858191"/>
                </a:lnTo>
                <a:lnTo>
                  <a:pt x="9678353" y="6616891"/>
                </a:lnTo>
                <a:lnTo>
                  <a:pt x="9907715" y="6858191"/>
                </a:lnTo>
                <a:lnTo>
                  <a:pt x="9911588" y="6858191"/>
                </a:lnTo>
                <a:lnTo>
                  <a:pt x="10027476" y="5823141"/>
                </a:lnTo>
                <a:lnTo>
                  <a:pt x="10258044" y="6065838"/>
                </a:lnTo>
                <a:lnTo>
                  <a:pt x="10707942" y="5638356"/>
                </a:lnTo>
                <a:lnTo>
                  <a:pt x="10940542" y="5883212"/>
                </a:lnTo>
                <a:lnTo>
                  <a:pt x="10940542" y="5883212"/>
                </a:lnTo>
                <a:lnTo>
                  <a:pt x="11173143" y="6128004"/>
                </a:lnTo>
                <a:lnTo>
                  <a:pt x="10723308" y="6555486"/>
                </a:lnTo>
                <a:lnTo>
                  <a:pt x="10953877" y="6798183"/>
                </a:lnTo>
                <a:lnTo>
                  <a:pt x="9966261" y="6857873"/>
                </a:lnTo>
                <a:lnTo>
                  <a:pt x="10947527" y="6857873"/>
                </a:lnTo>
                <a:lnTo>
                  <a:pt x="10953877" y="6798437"/>
                </a:lnTo>
                <a:lnTo>
                  <a:pt x="11010900" y="6858000"/>
                </a:lnTo>
                <a:lnTo>
                  <a:pt x="11377930" y="6858000"/>
                </a:lnTo>
                <a:lnTo>
                  <a:pt x="11634915" y="6613843"/>
                </a:lnTo>
                <a:lnTo>
                  <a:pt x="11866880" y="6858000"/>
                </a:lnTo>
                <a:lnTo>
                  <a:pt x="11867896" y="6858000"/>
                </a:lnTo>
                <a:lnTo>
                  <a:pt x="11984038" y="5820283"/>
                </a:lnTo>
                <a:lnTo>
                  <a:pt x="12192000" y="6039168"/>
                </a:lnTo>
                <a:lnTo>
                  <a:pt x="12192000" y="5160328"/>
                </a:lnTo>
                <a:lnTo>
                  <a:pt x="11753152" y="5577269"/>
                </a:lnTo>
                <a:lnTo>
                  <a:pt x="11983783" y="5820029"/>
                </a:lnTo>
                <a:lnTo>
                  <a:pt x="10941050" y="5883021"/>
                </a:lnTo>
                <a:lnTo>
                  <a:pt x="11057255" y="4844669"/>
                </a:lnTo>
                <a:lnTo>
                  <a:pt x="11287823" y="5087430"/>
                </a:lnTo>
                <a:lnTo>
                  <a:pt x="11737721" y="4659948"/>
                </a:lnTo>
                <a:lnTo>
                  <a:pt x="11970321" y="4904740"/>
                </a:lnTo>
                <a:lnTo>
                  <a:pt x="11970321" y="4905058"/>
                </a:lnTo>
                <a:lnTo>
                  <a:pt x="12191936" y="5138230"/>
                </a:lnTo>
                <a:lnTo>
                  <a:pt x="12191936" y="4891342"/>
                </a:lnTo>
                <a:lnTo>
                  <a:pt x="11970385" y="4904740"/>
                </a:lnTo>
                <a:lnTo>
                  <a:pt x="12086590" y="3866388"/>
                </a:lnTo>
                <a:lnTo>
                  <a:pt x="12192000" y="3977259"/>
                </a:lnTo>
                <a:lnTo>
                  <a:pt x="12192000" y="3304159"/>
                </a:lnTo>
                <a:lnTo>
                  <a:pt x="11855450" y="3623628"/>
                </a:lnTo>
                <a:lnTo>
                  <a:pt x="12086082" y="3866388"/>
                </a:lnTo>
                <a:lnTo>
                  <a:pt x="11043158" y="3929380"/>
                </a:lnTo>
                <a:lnTo>
                  <a:pt x="11159363" y="2891028"/>
                </a:lnTo>
                <a:lnTo>
                  <a:pt x="11389931" y="3133725"/>
                </a:lnTo>
                <a:lnTo>
                  <a:pt x="11839829" y="2706307"/>
                </a:lnTo>
                <a:lnTo>
                  <a:pt x="12072430" y="2951099"/>
                </a:lnTo>
                <a:lnTo>
                  <a:pt x="12072430" y="2951417"/>
                </a:lnTo>
                <a:lnTo>
                  <a:pt x="12192000" y="3076385"/>
                </a:lnTo>
                <a:lnTo>
                  <a:pt x="12192000" y="2943670"/>
                </a:lnTo>
                <a:lnTo>
                  <a:pt x="12073065" y="2950845"/>
                </a:lnTo>
                <a:lnTo>
                  <a:pt x="12189269" y="1912493"/>
                </a:lnTo>
                <a:lnTo>
                  <a:pt x="12192000" y="1915351"/>
                </a:lnTo>
                <a:lnTo>
                  <a:pt x="12192000" y="1447800"/>
                </a:lnTo>
                <a:lnTo>
                  <a:pt x="11958383" y="1670050"/>
                </a:lnTo>
                <a:lnTo>
                  <a:pt x="12189016" y="1912747"/>
                </a:lnTo>
                <a:lnTo>
                  <a:pt x="11146092" y="1975803"/>
                </a:lnTo>
                <a:lnTo>
                  <a:pt x="11262296" y="937451"/>
                </a:lnTo>
                <a:lnTo>
                  <a:pt x="11492865" y="1180148"/>
                </a:lnTo>
                <a:lnTo>
                  <a:pt x="11942762" y="752729"/>
                </a:lnTo>
                <a:lnTo>
                  <a:pt x="12175363" y="996950"/>
                </a:lnTo>
                <a:lnTo>
                  <a:pt x="12175363" y="997268"/>
                </a:lnTo>
                <a:lnTo>
                  <a:pt x="12191746" y="1014476"/>
                </a:lnTo>
                <a:lnTo>
                  <a:pt x="12191746" y="995934"/>
                </a:lnTo>
                <a:lnTo>
                  <a:pt x="12175427" y="996950"/>
                </a:lnTo>
                <a:lnTo>
                  <a:pt x="12191746" y="850900"/>
                </a:lnTo>
                <a:close/>
                <a:moveTo>
                  <a:pt x="9305671" y="939800"/>
                </a:moveTo>
                <a:lnTo>
                  <a:pt x="9536303" y="1182497"/>
                </a:lnTo>
                <a:lnTo>
                  <a:pt x="9986137" y="755015"/>
                </a:lnTo>
                <a:lnTo>
                  <a:pt x="10218738" y="999871"/>
                </a:lnTo>
                <a:lnTo>
                  <a:pt x="10218738" y="999871"/>
                </a:lnTo>
                <a:lnTo>
                  <a:pt x="10451656" y="1244600"/>
                </a:lnTo>
                <a:lnTo>
                  <a:pt x="10001758" y="1672082"/>
                </a:lnTo>
                <a:lnTo>
                  <a:pt x="10232390" y="1914779"/>
                </a:lnTo>
                <a:lnTo>
                  <a:pt x="9189466" y="1977835"/>
                </a:lnTo>
                <a:close/>
                <a:moveTo>
                  <a:pt x="10129774" y="3868991"/>
                </a:moveTo>
                <a:lnTo>
                  <a:pt x="9086850" y="3931857"/>
                </a:lnTo>
                <a:lnTo>
                  <a:pt x="9203055" y="2893505"/>
                </a:lnTo>
                <a:lnTo>
                  <a:pt x="9433687" y="3136202"/>
                </a:lnTo>
                <a:lnTo>
                  <a:pt x="9883521" y="2708783"/>
                </a:lnTo>
                <a:lnTo>
                  <a:pt x="10116185" y="2953576"/>
                </a:lnTo>
                <a:lnTo>
                  <a:pt x="10116185" y="2953576"/>
                </a:lnTo>
                <a:lnTo>
                  <a:pt x="10348785" y="3198368"/>
                </a:lnTo>
                <a:lnTo>
                  <a:pt x="9899142" y="3625850"/>
                </a:lnTo>
                <a:close/>
                <a:moveTo>
                  <a:pt x="8956548" y="1733169"/>
                </a:moveTo>
                <a:lnTo>
                  <a:pt x="9189148" y="1977962"/>
                </a:lnTo>
                <a:lnTo>
                  <a:pt x="9189466" y="1978279"/>
                </a:lnTo>
                <a:lnTo>
                  <a:pt x="9422067" y="2223072"/>
                </a:lnTo>
                <a:lnTo>
                  <a:pt x="8972169" y="2650490"/>
                </a:lnTo>
                <a:lnTo>
                  <a:pt x="9202801" y="2893187"/>
                </a:lnTo>
                <a:lnTo>
                  <a:pt x="8159750" y="2956243"/>
                </a:lnTo>
                <a:lnTo>
                  <a:pt x="8276082" y="1917700"/>
                </a:lnTo>
                <a:lnTo>
                  <a:pt x="8506714" y="2160397"/>
                </a:lnTo>
                <a:close/>
                <a:moveTo>
                  <a:pt x="8173212" y="3871532"/>
                </a:moveTo>
                <a:lnTo>
                  <a:pt x="7130288" y="3934524"/>
                </a:lnTo>
                <a:lnTo>
                  <a:pt x="7246494" y="2896235"/>
                </a:lnTo>
                <a:lnTo>
                  <a:pt x="7477062" y="3138932"/>
                </a:lnTo>
                <a:lnTo>
                  <a:pt x="7926959" y="2711450"/>
                </a:lnTo>
                <a:lnTo>
                  <a:pt x="8159750" y="2956243"/>
                </a:lnTo>
                <a:lnTo>
                  <a:pt x="8159750" y="2956560"/>
                </a:lnTo>
                <a:lnTo>
                  <a:pt x="8392414" y="3201353"/>
                </a:lnTo>
                <a:lnTo>
                  <a:pt x="7942517" y="3628834"/>
                </a:lnTo>
                <a:close/>
                <a:moveTo>
                  <a:pt x="7349109" y="942277"/>
                </a:moveTo>
                <a:lnTo>
                  <a:pt x="7579678" y="1185037"/>
                </a:lnTo>
                <a:lnTo>
                  <a:pt x="8029575" y="757555"/>
                </a:lnTo>
                <a:lnTo>
                  <a:pt x="8262176" y="1002348"/>
                </a:lnTo>
                <a:lnTo>
                  <a:pt x="8262176" y="1002665"/>
                </a:lnTo>
                <a:lnTo>
                  <a:pt x="8494776" y="1247458"/>
                </a:lnTo>
                <a:lnTo>
                  <a:pt x="8045450" y="1674939"/>
                </a:lnTo>
                <a:lnTo>
                  <a:pt x="8275828" y="1917700"/>
                </a:lnTo>
                <a:lnTo>
                  <a:pt x="7232650" y="1980629"/>
                </a:lnTo>
                <a:close/>
                <a:moveTo>
                  <a:pt x="6999859" y="1736027"/>
                </a:moveTo>
                <a:lnTo>
                  <a:pt x="7232650" y="1980692"/>
                </a:lnTo>
                <a:lnTo>
                  <a:pt x="7232650" y="1980692"/>
                </a:lnTo>
                <a:lnTo>
                  <a:pt x="7465251" y="2225485"/>
                </a:lnTo>
                <a:lnTo>
                  <a:pt x="7015417" y="2652967"/>
                </a:lnTo>
                <a:lnTo>
                  <a:pt x="7245985" y="2895664"/>
                </a:lnTo>
                <a:lnTo>
                  <a:pt x="6203252" y="2959100"/>
                </a:lnTo>
                <a:lnTo>
                  <a:pt x="6319457" y="1920748"/>
                </a:lnTo>
                <a:lnTo>
                  <a:pt x="6550089" y="2163445"/>
                </a:lnTo>
                <a:close/>
                <a:moveTo>
                  <a:pt x="6216650" y="3874199"/>
                </a:moveTo>
                <a:lnTo>
                  <a:pt x="5173663" y="3937000"/>
                </a:lnTo>
                <a:lnTo>
                  <a:pt x="5289868" y="2898648"/>
                </a:lnTo>
                <a:lnTo>
                  <a:pt x="5520500" y="3141345"/>
                </a:lnTo>
                <a:lnTo>
                  <a:pt x="5970334" y="2713927"/>
                </a:lnTo>
                <a:lnTo>
                  <a:pt x="6202998" y="2959100"/>
                </a:lnTo>
                <a:lnTo>
                  <a:pt x="6202998" y="2959100"/>
                </a:lnTo>
                <a:lnTo>
                  <a:pt x="6435598" y="3203956"/>
                </a:lnTo>
                <a:lnTo>
                  <a:pt x="5985764" y="3631375"/>
                </a:lnTo>
                <a:close/>
                <a:moveTo>
                  <a:pt x="5392484" y="945007"/>
                </a:moveTo>
                <a:lnTo>
                  <a:pt x="5623116" y="1187450"/>
                </a:lnTo>
                <a:lnTo>
                  <a:pt x="6072950" y="760032"/>
                </a:lnTo>
                <a:lnTo>
                  <a:pt x="6305550" y="1005078"/>
                </a:lnTo>
                <a:lnTo>
                  <a:pt x="6305550" y="1005078"/>
                </a:lnTo>
                <a:lnTo>
                  <a:pt x="6538151" y="1249934"/>
                </a:lnTo>
                <a:lnTo>
                  <a:pt x="6088253" y="1677353"/>
                </a:lnTo>
                <a:lnTo>
                  <a:pt x="6318885" y="1920050"/>
                </a:lnTo>
                <a:lnTo>
                  <a:pt x="5275961" y="1983105"/>
                </a:lnTo>
                <a:close/>
                <a:moveTo>
                  <a:pt x="5043234" y="1738757"/>
                </a:moveTo>
                <a:lnTo>
                  <a:pt x="5275834" y="1983550"/>
                </a:lnTo>
                <a:lnTo>
                  <a:pt x="5275834" y="1983867"/>
                </a:lnTo>
                <a:lnTo>
                  <a:pt x="5508435" y="2228660"/>
                </a:lnTo>
                <a:lnTo>
                  <a:pt x="5058537" y="2656142"/>
                </a:lnTo>
                <a:lnTo>
                  <a:pt x="5289550" y="2898648"/>
                </a:lnTo>
                <a:lnTo>
                  <a:pt x="4246690" y="2961640"/>
                </a:lnTo>
                <a:lnTo>
                  <a:pt x="4362895" y="1923288"/>
                </a:lnTo>
                <a:lnTo>
                  <a:pt x="4593527" y="2166049"/>
                </a:lnTo>
                <a:close/>
                <a:moveTo>
                  <a:pt x="3435922" y="947738"/>
                </a:moveTo>
                <a:lnTo>
                  <a:pt x="3666490" y="1190435"/>
                </a:lnTo>
                <a:lnTo>
                  <a:pt x="4116388" y="762953"/>
                </a:lnTo>
                <a:lnTo>
                  <a:pt x="4348988" y="1007809"/>
                </a:lnTo>
                <a:lnTo>
                  <a:pt x="4348988" y="1007809"/>
                </a:lnTo>
                <a:lnTo>
                  <a:pt x="4581652" y="1252601"/>
                </a:lnTo>
                <a:lnTo>
                  <a:pt x="4131755" y="1680083"/>
                </a:lnTo>
                <a:lnTo>
                  <a:pt x="4362450" y="1923034"/>
                </a:lnTo>
                <a:lnTo>
                  <a:pt x="3319526" y="1986089"/>
                </a:lnTo>
                <a:close/>
                <a:moveTo>
                  <a:pt x="1363091" y="1988757"/>
                </a:moveTo>
                <a:lnTo>
                  <a:pt x="1479550" y="950405"/>
                </a:lnTo>
                <a:lnTo>
                  <a:pt x="1710182" y="1193102"/>
                </a:lnTo>
                <a:lnTo>
                  <a:pt x="2160016" y="765683"/>
                </a:lnTo>
                <a:lnTo>
                  <a:pt x="2392680" y="1010476"/>
                </a:lnTo>
                <a:lnTo>
                  <a:pt x="2392680" y="1010793"/>
                </a:lnTo>
                <a:lnTo>
                  <a:pt x="2625281" y="1255586"/>
                </a:lnTo>
                <a:lnTo>
                  <a:pt x="2175447" y="1682750"/>
                </a:lnTo>
                <a:lnTo>
                  <a:pt x="2406015" y="1925511"/>
                </a:lnTo>
                <a:close/>
                <a:moveTo>
                  <a:pt x="2290191" y="2964371"/>
                </a:moveTo>
                <a:lnTo>
                  <a:pt x="2406650" y="1926019"/>
                </a:lnTo>
                <a:lnTo>
                  <a:pt x="2637219" y="2168716"/>
                </a:lnTo>
                <a:lnTo>
                  <a:pt x="3087116" y="1741297"/>
                </a:lnTo>
                <a:lnTo>
                  <a:pt x="3319716" y="1986089"/>
                </a:lnTo>
                <a:lnTo>
                  <a:pt x="3319716" y="1986089"/>
                </a:lnTo>
                <a:lnTo>
                  <a:pt x="3552317" y="2230946"/>
                </a:lnTo>
                <a:lnTo>
                  <a:pt x="3102483" y="2658364"/>
                </a:lnTo>
                <a:lnTo>
                  <a:pt x="3333115" y="2901061"/>
                </a:lnTo>
                <a:close/>
                <a:moveTo>
                  <a:pt x="3217291" y="3939984"/>
                </a:moveTo>
                <a:lnTo>
                  <a:pt x="3333306" y="2901950"/>
                </a:lnTo>
                <a:lnTo>
                  <a:pt x="3563874" y="3144647"/>
                </a:lnTo>
                <a:lnTo>
                  <a:pt x="4013772" y="2717165"/>
                </a:lnTo>
                <a:lnTo>
                  <a:pt x="4246372" y="2962021"/>
                </a:lnTo>
                <a:lnTo>
                  <a:pt x="4246372" y="2962021"/>
                </a:lnTo>
                <a:lnTo>
                  <a:pt x="4479290" y="3206750"/>
                </a:lnTo>
                <a:lnTo>
                  <a:pt x="4029393" y="3634232"/>
                </a:lnTo>
                <a:lnTo>
                  <a:pt x="4260025" y="3876929"/>
                </a:lnTo>
                <a:close/>
                <a:moveTo>
                  <a:pt x="4144391" y="4915535"/>
                </a:moveTo>
                <a:lnTo>
                  <a:pt x="4260596" y="3877247"/>
                </a:lnTo>
                <a:lnTo>
                  <a:pt x="4491228" y="4119944"/>
                </a:lnTo>
                <a:lnTo>
                  <a:pt x="4941062" y="3692462"/>
                </a:lnTo>
                <a:lnTo>
                  <a:pt x="5173345" y="3937000"/>
                </a:lnTo>
                <a:lnTo>
                  <a:pt x="5173345" y="3937318"/>
                </a:lnTo>
                <a:lnTo>
                  <a:pt x="5405946" y="4182110"/>
                </a:lnTo>
                <a:lnTo>
                  <a:pt x="4956366" y="4610100"/>
                </a:lnTo>
                <a:lnTo>
                  <a:pt x="5186998" y="4852797"/>
                </a:lnTo>
                <a:close/>
                <a:moveTo>
                  <a:pt x="5883402" y="5585397"/>
                </a:moveTo>
                <a:lnTo>
                  <a:pt x="6113971" y="5828094"/>
                </a:lnTo>
                <a:lnTo>
                  <a:pt x="5071047" y="5891149"/>
                </a:lnTo>
                <a:lnTo>
                  <a:pt x="5187252" y="4852797"/>
                </a:lnTo>
                <a:lnTo>
                  <a:pt x="5417884" y="5095494"/>
                </a:lnTo>
                <a:lnTo>
                  <a:pt x="5867781" y="4668076"/>
                </a:lnTo>
                <a:lnTo>
                  <a:pt x="6100382" y="4912868"/>
                </a:lnTo>
                <a:lnTo>
                  <a:pt x="6100382" y="4913186"/>
                </a:lnTo>
                <a:lnTo>
                  <a:pt x="6332982" y="5157978"/>
                </a:lnTo>
                <a:close/>
                <a:moveTo>
                  <a:pt x="6100699" y="4912868"/>
                </a:moveTo>
                <a:lnTo>
                  <a:pt x="6216650" y="3874516"/>
                </a:lnTo>
                <a:lnTo>
                  <a:pt x="6447219" y="4117213"/>
                </a:lnTo>
                <a:lnTo>
                  <a:pt x="6897116" y="3689731"/>
                </a:lnTo>
                <a:lnTo>
                  <a:pt x="7129717" y="3934587"/>
                </a:lnTo>
                <a:lnTo>
                  <a:pt x="7129717" y="3934587"/>
                </a:lnTo>
                <a:lnTo>
                  <a:pt x="7362318" y="4179380"/>
                </a:lnTo>
                <a:lnTo>
                  <a:pt x="6912483" y="4606862"/>
                </a:lnTo>
                <a:lnTo>
                  <a:pt x="7143750" y="4849813"/>
                </a:lnTo>
                <a:close/>
                <a:moveTo>
                  <a:pt x="7839964" y="5582730"/>
                </a:moveTo>
                <a:lnTo>
                  <a:pt x="8070850" y="5825427"/>
                </a:lnTo>
                <a:lnTo>
                  <a:pt x="7027926" y="5888482"/>
                </a:lnTo>
                <a:lnTo>
                  <a:pt x="7143750" y="4850130"/>
                </a:lnTo>
                <a:lnTo>
                  <a:pt x="7374445" y="5092700"/>
                </a:lnTo>
                <a:lnTo>
                  <a:pt x="7824344" y="4665218"/>
                </a:lnTo>
                <a:lnTo>
                  <a:pt x="8056944" y="4910011"/>
                </a:lnTo>
                <a:lnTo>
                  <a:pt x="8056944" y="4910011"/>
                </a:lnTo>
                <a:lnTo>
                  <a:pt x="8289607" y="5154803"/>
                </a:lnTo>
                <a:close/>
                <a:moveTo>
                  <a:pt x="8057261" y="4910138"/>
                </a:moveTo>
                <a:lnTo>
                  <a:pt x="8173466" y="3871786"/>
                </a:lnTo>
                <a:lnTo>
                  <a:pt x="8404098" y="4114800"/>
                </a:lnTo>
                <a:lnTo>
                  <a:pt x="8853932" y="3687382"/>
                </a:lnTo>
                <a:lnTo>
                  <a:pt x="9086850" y="3931857"/>
                </a:lnTo>
                <a:lnTo>
                  <a:pt x="9086850" y="3931857"/>
                </a:lnTo>
                <a:lnTo>
                  <a:pt x="9319451" y="4176649"/>
                </a:lnTo>
                <a:lnTo>
                  <a:pt x="8869553" y="4604068"/>
                </a:lnTo>
                <a:lnTo>
                  <a:pt x="9100185" y="4846765"/>
                </a:lnTo>
                <a:close/>
                <a:moveTo>
                  <a:pt x="9796590" y="5579999"/>
                </a:moveTo>
                <a:lnTo>
                  <a:pt x="10027158" y="5822950"/>
                </a:lnTo>
                <a:lnTo>
                  <a:pt x="8984234" y="5886006"/>
                </a:lnTo>
                <a:lnTo>
                  <a:pt x="9100439" y="4847654"/>
                </a:lnTo>
                <a:lnTo>
                  <a:pt x="9331071" y="5090351"/>
                </a:lnTo>
                <a:lnTo>
                  <a:pt x="9780905" y="4662932"/>
                </a:lnTo>
                <a:lnTo>
                  <a:pt x="10013569" y="4907725"/>
                </a:lnTo>
                <a:lnTo>
                  <a:pt x="10013569" y="4907725"/>
                </a:lnTo>
                <a:lnTo>
                  <a:pt x="10246169" y="5152581"/>
                </a:lnTo>
                <a:close/>
                <a:moveTo>
                  <a:pt x="11276140" y="4174236"/>
                </a:moveTo>
                <a:lnTo>
                  <a:pt x="10826306" y="4601718"/>
                </a:lnTo>
                <a:lnTo>
                  <a:pt x="11056874" y="4844415"/>
                </a:lnTo>
                <a:lnTo>
                  <a:pt x="10013950" y="4907471"/>
                </a:lnTo>
                <a:lnTo>
                  <a:pt x="10130155" y="3869119"/>
                </a:lnTo>
                <a:lnTo>
                  <a:pt x="10360787" y="4111816"/>
                </a:lnTo>
                <a:lnTo>
                  <a:pt x="10810684" y="3684334"/>
                </a:lnTo>
                <a:lnTo>
                  <a:pt x="11043285" y="3929126"/>
                </a:lnTo>
                <a:lnTo>
                  <a:pt x="11043285" y="3929126"/>
                </a:lnTo>
                <a:close/>
                <a:moveTo>
                  <a:pt x="11378756" y="2220341"/>
                </a:moveTo>
                <a:lnTo>
                  <a:pt x="10928794" y="2647950"/>
                </a:lnTo>
                <a:lnTo>
                  <a:pt x="11159363" y="2890647"/>
                </a:lnTo>
                <a:lnTo>
                  <a:pt x="10116439" y="2953639"/>
                </a:lnTo>
                <a:lnTo>
                  <a:pt x="10232644" y="1915351"/>
                </a:lnTo>
                <a:lnTo>
                  <a:pt x="10463276" y="2158048"/>
                </a:lnTo>
                <a:lnTo>
                  <a:pt x="10913173" y="1730566"/>
                </a:lnTo>
                <a:lnTo>
                  <a:pt x="11145774" y="1975358"/>
                </a:lnTo>
                <a:lnTo>
                  <a:pt x="11145774" y="1975676"/>
                </a:lnTo>
                <a:close/>
                <a:moveTo>
                  <a:pt x="12192000" y="6858000"/>
                </a:moveTo>
                <a:lnTo>
                  <a:pt x="12192000" y="6838950"/>
                </a:lnTo>
                <a:lnTo>
                  <a:pt x="11878310" y="6858000"/>
                </a:lnTo>
                <a:close/>
              </a:path>
            </a:pathLst>
          </a:custGeom>
          <a:gradFill>
            <a:gsLst>
              <a:gs pos="0">
                <a:srgbClr val="BCF6A7">
                  <a:alpha val="16470"/>
                </a:srgbClr>
              </a:gs>
              <a:gs pos="80000">
                <a:srgbClr val="011733">
                  <a:alpha val="0"/>
                </a:srgbClr>
              </a:gs>
              <a:gs pos="100000">
                <a:srgbClr val="011733">
                  <a:alpha val="0"/>
                </a:srgbClr>
              </a:gs>
            </a:gsLst>
            <a:lin ang="810001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 name="Google Shape;29;p88"/>
          <p:cNvSpPr txBox="1">
            <a:spLocks noGrp="1"/>
          </p:cNvSpPr>
          <p:nvPr>
            <p:ph type="ctrTitle"/>
          </p:nvPr>
        </p:nvSpPr>
        <p:spPr>
          <a:xfrm>
            <a:off x="855300" y="1732800"/>
            <a:ext cx="7433400" cy="1159800"/>
          </a:xfrm>
          <a:prstGeom prst="rect">
            <a:avLst/>
          </a:prstGeom>
          <a:noFill/>
          <a:ln>
            <a:noFill/>
          </a:ln>
          <a:effectLst>
            <a:outerShdw blurRad="42863" dist="9525" dir="5400000" algn="bl" rotWithShape="0">
              <a:schemeClr val="dk1">
                <a:alpha val="29803"/>
              </a:schemeClr>
            </a:outerShdw>
          </a:effectLst>
        </p:spPr>
        <p:txBody>
          <a:bodyPr spcFirstLastPara="1" wrap="square" lIns="0" tIns="0" rIns="0" bIns="0" anchor="t" anchorCtr="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a:endParaRPr/>
          </a:p>
        </p:txBody>
      </p:sp>
      <p:sp>
        <p:nvSpPr>
          <p:cNvPr id="30" name="Google Shape;30;p88"/>
          <p:cNvSpPr txBox="1">
            <a:spLocks noGrp="1"/>
          </p:cNvSpPr>
          <p:nvPr>
            <p:ph type="subTitle" idx="1"/>
          </p:nvPr>
        </p:nvSpPr>
        <p:spPr>
          <a:xfrm>
            <a:off x="855300" y="2989502"/>
            <a:ext cx="7433400" cy="42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accent1"/>
              </a:buClr>
              <a:buSzPts val="2400"/>
              <a:buNone/>
              <a:defRPr>
                <a:solidFill>
                  <a:schemeClr val="accent1"/>
                </a:solidFill>
              </a:defRPr>
            </a:lvl1pPr>
            <a:lvl2pPr lvl="1" algn="l">
              <a:lnSpc>
                <a:spcPct val="115000"/>
              </a:lnSpc>
              <a:spcBef>
                <a:spcPts val="800"/>
              </a:spcBef>
              <a:spcAft>
                <a:spcPts val="0"/>
              </a:spcAft>
              <a:buClr>
                <a:schemeClr val="accent1"/>
              </a:buClr>
              <a:buSzPts val="3000"/>
              <a:buNone/>
              <a:defRPr sz="3000">
                <a:solidFill>
                  <a:schemeClr val="accent1"/>
                </a:solidFill>
              </a:defRPr>
            </a:lvl2pPr>
            <a:lvl3pPr lvl="2" algn="l">
              <a:lnSpc>
                <a:spcPct val="115000"/>
              </a:lnSpc>
              <a:spcBef>
                <a:spcPts val="800"/>
              </a:spcBef>
              <a:spcAft>
                <a:spcPts val="0"/>
              </a:spcAft>
              <a:buClr>
                <a:schemeClr val="accent1"/>
              </a:buClr>
              <a:buSzPts val="3000"/>
              <a:buNone/>
              <a:defRPr sz="3000">
                <a:solidFill>
                  <a:schemeClr val="accent1"/>
                </a:solidFill>
              </a:defRPr>
            </a:lvl3pPr>
            <a:lvl4pPr lvl="3" algn="l">
              <a:lnSpc>
                <a:spcPct val="115000"/>
              </a:lnSpc>
              <a:spcBef>
                <a:spcPts val="800"/>
              </a:spcBef>
              <a:spcAft>
                <a:spcPts val="0"/>
              </a:spcAft>
              <a:buClr>
                <a:schemeClr val="accent1"/>
              </a:buClr>
              <a:buSzPts val="3000"/>
              <a:buNone/>
              <a:defRPr sz="3000">
                <a:solidFill>
                  <a:schemeClr val="accent1"/>
                </a:solidFill>
              </a:defRPr>
            </a:lvl4pPr>
            <a:lvl5pPr lvl="4" algn="l">
              <a:lnSpc>
                <a:spcPct val="115000"/>
              </a:lnSpc>
              <a:spcBef>
                <a:spcPts val="800"/>
              </a:spcBef>
              <a:spcAft>
                <a:spcPts val="0"/>
              </a:spcAft>
              <a:buClr>
                <a:schemeClr val="accent1"/>
              </a:buClr>
              <a:buSzPts val="3000"/>
              <a:buNone/>
              <a:defRPr sz="3000">
                <a:solidFill>
                  <a:schemeClr val="accent1"/>
                </a:solidFill>
              </a:defRPr>
            </a:lvl5pPr>
            <a:lvl6pPr lvl="5" algn="l">
              <a:lnSpc>
                <a:spcPct val="115000"/>
              </a:lnSpc>
              <a:spcBef>
                <a:spcPts val="800"/>
              </a:spcBef>
              <a:spcAft>
                <a:spcPts val="0"/>
              </a:spcAft>
              <a:buClr>
                <a:schemeClr val="accent1"/>
              </a:buClr>
              <a:buSzPts val="3000"/>
              <a:buNone/>
              <a:defRPr sz="3000">
                <a:solidFill>
                  <a:schemeClr val="accent1"/>
                </a:solidFill>
              </a:defRPr>
            </a:lvl6pPr>
            <a:lvl7pPr lvl="6" algn="l">
              <a:lnSpc>
                <a:spcPct val="115000"/>
              </a:lnSpc>
              <a:spcBef>
                <a:spcPts val="800"/>
              </a:spcBef>
              <a:spcAft>
                <a:spcPts val="0"/>
              </a:spcAft>
              <a:buClr>
                <a:schemeClr val="accent1"/>
              </a:buClr>
              <a:buSzPts val="3000"/>
              <a:buNone/>
              <a:defRPr sz="3000">
                <a:solidFill>
                  <a:schemeClr val="accent1"/>
                </a:solidFill>
              </a:defRPr>
            </a:lvl7pPr>
            <a:lvl8pPr lvl="7" algn="l">
              <a:lnSpc>
                <a:spcPct val="115000"/>
              </a:lnSpc>
              <a:spcBef>
                <a:spcPts val="800"/>
              </a:spcBef>
              <a:spcAft>
                <a:spcPts val="0"/>
              </a:spcAft>
              <a:buClr>
                <a:schemeClr val="accent1"/>
              </a:buClr>
              <a:buSzPts val="3000"/>
              <a:buNone/>
              <a:defRPr sz="3000">
                <a:solidFill>
                  <a:schemeClr val="accent1"/>
                </a:solidFill>
              </a:defRPr>
            </a:lvl8pPr>
            <a:lvl9pPr lvl="8" algn="l">
              <a:lnSpc>
                <a:spcPct val="115000"/>
              </a:lnSpc>
              <a:spcBef>
                <a:spcPts val="800"/>
              </a:spcBef>
              <a:spcAft>
                <a:spcPts val="800"/>
              </a:spcAft>
              <a:buClr>
                <a:schemeClr val="accent1"/>
              </a:buClr>
              <a:buSzPts val="3000"/>
              <a:buNone/>
              <a:defRPr sz="3000">
                <a:solidFill>
                  <a:schemeClr val="accent1"/>
                </a:solidFill>
              </a:defRPr>
            </a:lvl9pPr>
          </a:lstStyle>
          <a:p>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1"/>
            </a:gs>
            <a:gs pos="50000">
              <a:schemeClr val="accent2"/>
            </a:gs>
            <a:gs pos="100000">
              <a:schemeClr val="accent3"/>
            </a:gs>
          </a:gsLst>
          <a:path path="circle">
            <a:fillToRect l="100000" b="100000"/>
          </a:path>
          <a:tileRect t="-100000" r="-100000"/>
        </a:gradFill>
        <a:effectLst/>
      </p:bgPr>
    </p:bg>
    <p:spTree>
      <p:nvGrpSpPr>
        <p:cNvPr id="1" name="Shape 5"/>
        <p:cNvGrpSpPr/>
        <p:nvPr/>
      </p:nvGrpSpPr>
      <p:grpSpPr>
        <a:xfrm>
          <a:off x="0" y="0"/>
          <a:ext cx="0" cy="0"/>
          <a:chOff x="0" y="0"/>
          <a:chExt cx="0" cy="0"/>
        </a:xfrm>
      </p:grpSpPr>
      <p:sp>
        <p:nvSpPr>
          <p:cNvPr id="6" name="Google Shape;6;p83"/>
          <p:cNvSpPr txBox="1">
            <a:spLocks noGrp="1"/>
          </p:cNvSpPr>
          <p:nvPr>
            <p:ph type="title"/>
          </p:nvPr>
        </p:nvSpPr>
        <p:spPr>
          <a:xfrm>
            <a:off x="651600" y="628650"/>
            <a:ext cx="6130200" cy="4335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a:endParaRPr/>
          </a:p>
        </p:txBody>
      </p:sp>
      <p:sp>
        <p:nvSpPr>
          <p:cNvPr id="7" name="Google Shape;7;p83"/>
          <p:cNvSpPr txBox="1">
            <a:spLocks noGrp="1"/>
          </p:cNvSpPr>
          <p:nvPr>
            <p:ph type="body" idx="1"/>
          </p:nvPr>
        </p:nvSpPr>
        <p:spPr>
          <a:xfrm>
            <a:off x="651600" y="1409701"/>
            <a:ext cx="6130200" cy="3105000"/>
          </a:xfrm>
          <a:prstGeom prst="rect">
            <a:avLst/>
          </a:prstGeom>
          <a:noFill/>
          <a:ln>
            <a:noFill/>
          </a:ln>
        </p:spPr>
        <p:txBody>
          <a:bodyPr spcFirstLastPara="1" wrap="square" lIns="0" tIns="0" rIns="0" bIns="0" anchor="t" anchorCtr="0">
            <a:noAutofit/>
          </a:bodyPr>
          <a:lstStyle>
            <a:lvl1pPr marL="457200" marR="0" lvl="0" indent="-381000" algn="l" rtl="0">
              <a:lnSpc>
                <a:spcPct val="115000"/>
              </a:lnSpc>
              <a:spcBef>
                <a:spcPts val="0"/>
              </a:spcBef>
              <a:spcAft>
                <a:spcPts val="0"/>
              </a:spcAft>
              <a:buClr>
                <a:schemeClr val="accen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1pPr>
            <a:lvl2pPr marL="914400" marR="0" lvl="1" indent="-381000" algn="l" rtl="0">
              <a:lnSpc>
                <a:spcPct val="115000"/>
              </a:lnSpc>
              <a:spcBef>
                <a:spcPts val="800"/>
              </a:spcBef>
              <a:spcAft>
                <a:spcPts val="0"/>
              </a:spcAft>
              <a:buClr>
                <a:schemeClr val="accent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2pPr>
            <a:lvl3pPr marL="1371600" marR="0" lvl="2" indent="-381000" algn="l" rtl="0">
              <a:lnSpc>
                <a:spcPct val="115000"/>
              </a:lnSpc>
              <a:spcBef>
                <a:spcPts val="800"/>
              </a:spcBef>
              <a:spcAft>
                <a:spcPts val="0"/>
              </a:spcAft>
              <a:buClr>
                <a:schemeClr val="l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3pPr>
            <a:lvl4pPr marL="1828800" marR="0" lvl="3"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4pPr>
            <a:lvl5pPr marL="2286000" marR="0" lvl="4"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5pPr>
            <a:lvl6pPr marL="2743200" marR="0" lvl="5"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6pPr>
            <a:lvl7pPr marL="3200400" marR="0" lvl="6"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7pPr>
            <a:lvl8pPr marL="3657600" marR="0" lvl="7"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8pPr>
            <a:lvl9pPr marL="4114800" marR="0" lvl="8" indent="-381000" algn="l" rtl="0">
              <a:lnSpc>
                <a:spcPct val="115000"/>
              </a:lnSpc>
              <a:spcBef>
                <a:spcPts val="800"/>
              </a:spcBef>
              <a:spcAft>
                <a:spcPts val="80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9pPr>
          </a:lstStyle>
          <a:p>
            <a:endParaRPr/>
          </a:p>
        </p:txBody>
      </p:sp>
      <p:sp>
        <p:nvSpPr>
          <p:cNvPr id="8" name="Google Shape;8;p83"/>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hyperlink" Target="https://www.preprints.org/manuscript/202507.0537/v1?utm_source=chatgpt.co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platform.openai.com/docs/guides/embeddings"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87000">
              <a:srgbClr val="CED4D5"/>
            </a:gs>
            <a:gs pos="100000">
              <a:schemeClr val="lt2"/>
            </a:gs>
          </a:gsLst>
          <a:path path="circle">
            <a:fillToRect l="100000" b="100000"/>
          </a:path>
          <a:tileRect t="-100000" r="-100000"/>
        </a:gradFill>
        <a:effectLst/>
      </p:bgPr>
    </p:bg>
    <p:spTree>
      <p:nvGrpSpPr>
        <p:cNvPr id="1" name="Shape 34"/>
        <p:cNvGrpSpPr/>
        <p:nvPr/>
      </p:nvGrpSpPr>
      <p:grpSpPr>
        <a:xfrm>
          <a:off x="0" y="0"/>
          <a:ext cx="0" cy="0"/>
          <a:chOff x="0" y="0"/>
          <a:chExt cx="0" cy="0"/>
        </a:xfrm>
      </p:grpSpPr>
      <p:sp>
        <p:nvSpPr>
          <p:cNvPr id="35" name="Google Shape;35;p1"/>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36;p1"/>
          <p:cNvSpPr/>
          <p:nvPr/>
        </p:nvSpPr>
        <p:spPr>
          <a:xfrm rot="2466640">
            <a:off x="8609899" y="526362"/>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37;p1"/>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38;p1"/>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 name="Google Shape;39;p1"/>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 name="Google Shape;40;p1"/>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a:t>
            </a:fld>
            <a:endParaRPr>
              <a:solidFill>
                <a:schemeClr val="dk1"/>
              </a:solidFill>
            </a:endParaRPr>
          </a:p>
        </p:txBody>
      </p:sp>
      <p:sp>
        <p:nvSpPr>
          <p:cNvPr id="41" name="Google Shape;41;p1" descr="Details are in the caption following the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43;p1"/>
          <p:cNvSpPr txBox="1"/>
          <p:nvPr/>
        </p:nvSpPr>
        <p:spPr>
          <a:xfrm>
            <a:off x="657223" y="3368878"/>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THIRUMAL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a:extLst>
              <a:ext uri="{FF2B5EF4-FFF2-40B4-BE49-F238E27FC236}">
                <a16:creationId xmlns:a16="http://schemas.microsoft.com/office/drawing/2014/main" id="{EE34BC6F-C280-5B29-D1A1-F1353C93CE61}"/>
              </a:ext>
            </a:extLst>
          </p:cNvPr>
          <p:cNvPicPr>
            <a:picLocks noChangeAspect="1"/>
          </p:cNvPicPr>
          <p:nvPr/>
        </p:nvPicPr>
        <p:blipFill>
          <a:blip r:embed="rId3"/>
          <a:stretch>
            <a:fillRect/>
          </a:stretch>
        </p:blipFill>
        <p:spPr>
          <a:xfrm>
            <a:off x="1945086" y="244221"/>
            <a:ext cx="5148658" cy="1366520"/>
          </a:xfrm>
          <a:prstGeom prst="rect">
            <a:avLst/>
          </a:prstGeom>
        </p:spPr>
      </p:pic>
      <p:sp>
        <p:nvSpPr>
          <p:cNvPr id="6" name="TextBox 5">
            <a:extLst>
              <a:ext uri="{FF2B5EF4-FFF2-40B4-BE49-F238E27FC236}">
                <a16:creationId xmlns:a16="http://schemas.microsoft.com/office/drawing/2014/main" id="{CCE085A6-B3FD-0600-A8E8-58E4B63A2753}"/>
              </a:ext>
            </a:extLst>
          </p:cNvPr>
          <p:cNvSpPr txBox="1"/>
          <p:nvPr/>
        </p:nvSpPr>
        <p:spPr>
          <a:xfrm>
            <a:off x="1123245" y="1945484"/>
            <a:ext cx="7204215" cy="769441"/>
          </a:xfrm>
          <a:prstGeom prst="rect">
            <a:avLst/>
          </a:prstGeom>
          <a:noFill/>
        </p:spPr>
        <p:txBody>
          <a:bodyPr wrap="none" rtlCol="0">
            <a:spAutoFit/>
          </a:bodyPr>
          <a:lstStyle/>
          <a:p>
            <a:pPr algn="ctr"/>
            <a:r>
              <a:rPr lang="en-US" sz="2200" b="1" dirty="0">
                <a:solidFill>
                  <a:schemeClr val="dk1"/>
                </a:solidFill>
                <a:latin typeface="Times New Roman" panose="02020603050405020304"/>
                <a:cs typeface="Times New Roman" panose="02020603050405020304"/>
              </a:rPr>
              <a:t>A Low-Code Framework for Conversational AI Assistants</a:t>
            </a:r>
          </a:p>
          <a:p>
            <a:pPr algn="ctr"/>
            <a:r>
              <a:rPr lang="en-US" sz="2200" b="1" dirty="0">
                <a:solidFill>
                  <a:schemeClr val="dk1"/>
                </a:solidFill>
                <a:latin typeface="Times New Roman" panose="02020603050405020304"/>
                <a:cs typeface="Times New Roman" panose="02020603050405020304"/>
              </a:rPr>
              <a:t> Leveraging Retrieval-Augmented Generation and LLMs</a:t>
            </a:r>
            <a:endParaRPr lang="en-US" sz="22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43;p1">
            <a:extLst>
              <a:ext uri="{FF2B5EF4-FFF2-40B4-BE49-F238E27FC236}">
                <a16:creationId xmlns:a16="http://schemas.microsoft.com/office/drawing/2014/main" id="{7632064D-B3EF-E178-4E5B-60392A885982}"/>
              </a:ext>
            </a:extLst>
          </p:cNvPr>
          <p:cNvSpPr txBox="1"/>
          <p:nvPr/>
        </p:nvSpPr>
        <p:spPr>
          <a:xfrm>
            <a:off x="6333847" y="4403886"/>
            <a:ext cx="2640554" cy="599598"/>
          </a:xfrm>
          <a:prstGeom prst="rect">
            <a:avLst/>
          </a:prstGeom>
          <a:noFill/>
          <a:ln>
            <a:noFill/>
          </a:ln>
        </p:spPr>
        <p:txBody>
          <a:bodyPr spcFirstLastPara="1" wrap="square" lIns="91425" tIns="45700" rIns="91425" bIns="45700" anchor="t" anchorCtr="0">
            <a:noAutofit/>
          </a:bodyPr>
          <a:lstStyle/>
          <a:p>
            <a:pPr marL="228600" marR="0" lvl="0" indent="-228600" rtl="0">
              <a:lnSpc>
                <a:spcPct val="100000"/>
              </a:lnSpc>
              <a:spcBef>
                <a:spcPts val="0"/>
              </a:spcBef>
              <a:spcAft>
                <a:spcPts val="0"/>
              </a:spcAft>
              <a:buClr>
                <a:srgbClr val="000000"/>
              </a:buClr>
              <a:buSzPts val="1600"/>
              <a:buFont typeface="Arial" panose="020B0604020202020204"/>
              <a:buNone/>
            </a:pPr>
            <a:r>
              <a:rPr lang="en-IN" sz="1600" b="1" i="0" u="none" strike="noStrike" cap="none" dirty="0" err="1">
                <a:solidFill>
                  <a:srgbClr val="0C2503"/>
                </a:solidFill>
                <a:latin typeface="Times New Roman" panose="02020603050405020304"/>
                <a:ea typeface="Times New Roman" panose="02020603050405020304"/>
                <a:cs typeface="Times New Roman" panose="02020603050405020304"/>
                <a:sym typeface="Times New Roman" panose="02020603050405020304"/>
              </a:rPr>
              <a:t>Thanigaivel</a:t>
            </a:r>
            <a:r>
              <a:rPr lang="en-IN"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 G - 24880107</a:t>
            </a:r>
          </a:p>
          <a:p>
            <a:pPr marL="228600" marR="0" lvl="0" indent="-228600" rtl="0">
              <a:lnSpc>
                <a:spcPct val="100000"/>
              </a:lnSpc>
              <a:spcBef>
                <a:spcPts val="0"/>
              </a:spcBef>
              <a:spcAft>
                <a:spcPts val="0"/>
              </a:spcAft>
              <a:buClr>
                <a:srgbClr val="000000"/>
              </a:buClr>
              <a:buSzPts val="1600"/>
              <a:buFont typeface="Arial" panose="020B0604020202020204"/>
              <a:buNone/>
            </a:pPr>
            <a:r>
              <a:rPr lang="en-IN"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MTECH- CSE – II Year</a:t>
            </a:r>
            <a:endParaRPr sz="12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43;p1">
            <a:extLst>
              <a:ext uri="{FF2B5EF4-FFF2-40B4-BE49-F238E27FC236}">
                <a16:creationId xmlns:a16="http://schemas.microsoft.com/office/drawing/2014/main" id="{3B4CD36D-4E65-6E40-5980-99CA5853444F}"/>
              </a:ext>
            </a:extLst>
          </p:cNvPr>
          <p:cNvSpPr txBox="1"/>
          <p:nvPr/>
        </p:nvSpPr>
        <p:spPr>
          <a:xfrm>
            <a:off x="657223" y="4150657"/>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Kumar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a:extLst>
              <a:ext uri="{FF2B5EF4-FFF2-40B4-BE49-F238E27FC236}">
                <a16:creationId xmlns:a16="http://schemas.microsoft.com/office/drawing/2014/main" id="{FA6A4ADE-A8E2-2ACF-D556-87994F84563D}"/>
              </a:ext>
            </a:extLst>
          </p:cNvPr>
          <p:cNvSpPr txBox="1"/>
          <p:nvPr/>
        </p:nvSpPr>
        <p:spPr>
          <a:xfrm>
            <a:off x="648818" y="3075062"/>
            <a:ext cx="4572000" cy="307777"/>
          </a:xfrm>
          <a:prstGeom prst="rect">
            <a:avLst/>
          </a:prstGeom>
          <a:noFill/>
        </p:spPr>
        <p:txBody>
          <a:bodyPr wrap="square">
            <a:spAutoFit/>
          </a:bodyPr>
          <a:lstStyle/>
          <a:p>
            <a:pPr marL="228600" marR="0" lvl="0" indent="-228600" algn="l" rtl="0">
              <a:lnSpc>
                <a:spcPct val="100000"/>
              </a:lnSpc>
              <a:spcBef>
                <a:spcPts val="0"/>
              </a:spcBef>
              <a:spcAft>
                <a:spcPts val="0"/>
              </a:spcAft>
              <a:buClr>
                <a:srgbClr val="000000"/>
              </a:buClr>
              <a:buSzPts val="1600"/>
              <a:buFont typeface="Arial" panose="020B0604020202020204"/>
              <a:buNone/>
            </a:pPr>
            <a:r>
              <a:rPr lang="en-US"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Supervisor</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FEE55E28-89A3-7C7B-30CA-904AA4BE8979}"/>
            </a:ext>
          </a:extLst>
        </p:cNvPr>
        <p:cNvGrpSpPr/>
        <p:nvPr/>
      </p:nvGrpSpPr>
      <p:grpSpPr>
        <a:xfrm>
          <a:off x="0" y="0"/>
          <a:ext cx="0" cy="0"/>
          <a:chOff x="0" y="0"/>
          <a:chExt cx="0" cy="0"/>
        </a:xfrm>
      </p:grpSpPr>
      <p:sp>
        <p:nvSpPr>
          <p:cNvPr id="57" name="Google Shape;57;p3">
            <a:extLst>
              <a:ext uri="{FF2B5EF4-FFF2-40B4-BE49-F238E27FC236}">
                <a16:creationId xmlns:a16="http://schemas.microsoft.com/office/drawing/2014/main" id="{4573E0CA-084A-C420-7207-10518A05FFD0}"/>
              </a:ext>
            </a:extLst>
          </p:cNvPr>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8;p3">
            <a:extLst>
              <a:ext uri="{FF2B5EF4-FFF2-40B4-BE49-F238E27FC236}">
                <a16:creationId xmlns:a16="http://schemas.microsoft.com/office/drawing/2014/main" id="{04A34FE5-4ACD-AEAD-3730-048CC58D0C1E}"/>
              </a:ext>
            </a:extLst>
          </p:cNvPr>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p3">
            <a:extLst>
              <a:ext uri="{FF2B5EF4-FFF2-40B4-BE49-F238E27FC236}">
                <a16:creationId xmlns:a16="http://schemas.microsoft.com/office/drawing/2014/main" id="{3C185F26-36C4-7039-4D52-0B0B0C074CA1}"/>
              </a:ext>
            </a:extLst>
          </p:cNvPr>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60;p3">
            <a:extLst>
              <a:ext uri="{FF2B5EF4-FFF2-40B4-BE49-F238E27FC236}">
                <a16:creationId xmlns:a16="http://schemas.microsoft.com/office/drawing/2014/main" id="{1AAD082C-1F0C-8BE3-E2C6-9F66C5C0D5EF}"/>
              </a:ext>
            </a:extLst>
          </p:cNvPr>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61;p3">
            <a:extLst>
              <a:ext uri="{FF2B5EF4-FFF2-40B4-BE49-F238E27FC236}">
                <a16:creationId xmlns:a16="http://schemas.microsoft.com/office/drawing/2014/main" id="{148F2FE4-BEF4-4855-28C0-1D90F12161CE}"/>
              </a:ext>
            </a:extLst>
          </p:cNvPr>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62;p3">
            <a:extLst>
              <a:ext uri="{FF2B5EF4-FFF2-40B4-BE49-F238E27FC236}">
                <a16:creationId xmlns:a16="http://schemas.microsoft.com/office/drawing/2014/main" id="{EB8C8229-5726-BD56-270B-5DBA246BDA0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2</a:t>
            </a:fld>
            <a:endParaRPr>
              <a:solidFill>
                <a:schemeClr val="dk1"/>
              </a:solidFill>
            </a:endParaRPr>
          </a:p>
        </p:txBody>
      </p:sp>
      <p:sp>
        <p:nvSpPr>
          <p:cNvPr id="63" name="Google Shape;63;p3" descr="Details are in the caption following the image">
            <a:extLst>
              <a:ext uri="{FF2B5EF4-FFF2-40B4-BE49-F238E27FC236}">
                <a16:creationId xmlns:a16="http://schemas.microsoft.com/office/drawing/2014/main" id="{126B1279-FE70-84BF-2D8B-ADC53960E357}"/>
              </a:ext>
            </a:extLst>
          </p:cNvPr>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Google Shape;48;p2">
            <a:extLst>
              <a:ext uri="{FF2B5EF4-FFF2-40B4-BE49-F238E27FC236}">
                <a16:creationId xmlns:a16="http://schemas.microsoft.com/office/drawing/2014/main" id="{85F0647D-D47A-457F-18CA-CC836FC22FF3}"/>
              </a:ext>
            </a:extLst>
          </p:cNvPr>
          <p:cNvSpPr txBox="1">
            <a:spLocks/>
          </p:cNvSpPr>
          <p:nvPr/>
        </p:nvSpPr>
        <p:spPr>
          <a:xfrm>
            <a:off x="8404384" y="4673651"/>
            <a:ext cx="548700" cy="3936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fld id="{00000000-1234-1234-1234-123412341234}" type="slidenum">
              <a:rPr lang="en-US" smtClean="0">
                <a:solidFill>
                  <a:schemeClr val="dk1"/>
                </a:solidFill>
              </a:rPr>
              <a:pPr/>
              <a:t>2</a:t>
            </a:fld>
            <a:endParaRPr lang="en-US">
              <a:solidFill>
                <a:schemeClr val="dk1"/>
              </a:solidFill>
            </a:endParaRPr>
          </a:p>
        </p:txBody>
      </p:sp>
      <p:sp>
        <p:nvSpPr>
          <p:cNvPr id="3" name="Google Shape;49;p2">
            <a:extLst>
              <a:ext uri="{FF2B5EF4-FFF2-40B4-BE49-F238E27FC236}">
                <a16:creationId xmlns:a16="http://schemas.microsoft.com/office/drawing/2014/main" id="{F3F52BFD-9652-9481-A84B-1DAD73B995CF}"/>
              </a:ext>
            </a:extLst>
          </p:cNvPr>
          <p:cNvSpPr txBox="1"/>
          <p:nvPr/>
        </p:nvSpPr>
        <p:spPr>
          <a:xfrm>
            <a:off x="444649" y="597878"/>
            <a:ext cx="8507267" cy="4339609"/>
          </a:xfrm>
          <a:prstGeom prst="rect">
            <a:avLst/>
          </a:prstGeom>
          <a:noFill/>
          <a:ln>
            <a:noFill/>
          </a:ln>
        </p:spPr>
        <p:txBody>
          <a:bodyPr spcFirstLastPara="1" wrap="square" lIns="91425" tIns="45700" rIns="91425" bIns="45700" anchor="t" anchorCtr="0">
            <a:spAutoFit/>
          </a:bodyPr>
          <a:lstStyle/>
          <a:p>
            <a:pPr marL="171450" indent="-171450" algn="just">
              <a:lnSpc>
                <a:spcPct val="150000"/>
              </a:lnSpc>
              <a:buFont typeface="Arial" panose="020B0604020202020204" pitchFamily="34" charset="0"/>
              <a:buChar char="•"/>
            </a:pPr>
            <a:r>
              <a:rPr lang="en-IN" sz="1200" dirty="0"/>
              <a:t>Conversational AI has evolved rapidly with the advent of Large Language Models (LLMs), enabling intelligent and context-aware interactions between users and systems. However, integrating these models into enterprise applications typically requires extensive coding and AI expertise. </a:t>
            </a:r>
          </a:p>
          <a:p>
            <a:pPr marL="171450" indent="-171450" algn="just">
              <a:lnSpc>
                <a:spcPct val="150000"/>
              </a:lnSpc>
              <a:buFont typeface="Arial" panose="020B0604020202020204" pitchFamily="34" charset="0"/>
              <a:buChar char="•"/>
            </a:pPr>
            <a:r>
              <a:rPr lang="en-IN" sz="1200" dirty="0"/>
              <a:t>This project presents a low-code framework to build a Conversational AI Assistant using </a:t>
            </a:r>
            <a:r>
              <a:rPr lang="en-IN" sz="1200" b="1" dirty="0"/>
              <a:t>Retrieval-Augmented Generation (RAG) </a:t>
            </a:r>
            <a:r>
              <a:rPr lang="en-IN" sz="1200" dirty="0"/>
              <a:t>and</a:t>
            </a:r>
            <a:r>
              <a:rPr lang="en-IN" sz="1200" b="1" dirty="0"/>
              <a:t> LLMs, </a:t>
            </a:r>
            <a:r>
              <a:rPr lang="en-IN" sz="1200" dirty="0"/>
              <a:t>integrated with platforms like </a:t>
            </a:r>
            <a:r>
              <a:rPr lang="en-IN" sz="1200" b="1" dirty="0"/>
              <a:t>Oracle APEX. </a:t>
            </a:r>
            <a:r>
              <a:rPr lang="en-IN" sz="1200" dirty="0"/>
              <a:t>The assistant enables natural, domain-specific communication while retrieving accurate responses from enterprise knowledge sources. This approach reduces development time, lowers technical barriers, and makes AI accessible in business workflows like </a:t>
            </a:r>
            <a:r>
              <a:rPr lang="en-IN" sz="1200" b="1" dirty="0"/>
              <a:t>ERP or CRM </a:t>
            </a:r>
            <a:r>
              <a:rPr lang="en-IN" sz="1200" dirty="0"/>
              <a:t>systems.</a:t>
            </a:r>
          </a:p>
          <a:p>
            <a:pPr marL="171450" indent="-171450" algn="just">
              <a:lnSpc>
                <a:spcPct val="150000"/>
              </a:lnSpc>
              <a:buFont typeface="Arial" panose="020B0604020202020204" pitchFamily="34" charset="0"/>
              <a:buChar char="•"/>
            </a:pPr>
            <a:r>
              <a:rPr lang="en-US" sz="1200" dirty="0"/>
              <a:t>The assistant enables users to interact with the modules using </a:t>
            </a:r>
            <a:r>
              <a:rPr lang="en-US" sz="1200" b="1" dirty="0"/>
              <a:t>natural language</a:t>
            </a:r>
            <a:r>
              <a:rPr lang="en-US" sz="1200" dirty="0"/>
              <a:t>, thereby improving usability, accessibility, and productivity. Leveraging low-code development platforms and state-of-the-art LLMs like </a:t>
            </a:r>
            <a:r>
              <a:rPr lang="en-US" sz="1200" b="1" dirty="0"/>
              <a:t>GPT-4</a:t>
            </a:r>
            <a:r>
              <a:rPr lang="en-US" sz="1200" dirty="0"/>
              <a:t>, the solution offers a scalable and adaptable approach to ERP interaction, reducing dependency on technical expertise.</a:t>
            </a:r>
          </a:p>
          <a:p>
            <a:endParaRPr lang="en-US" sz="1200" dirty="0"/>
          </a:p>
          <a:p>
            <a:r>
              <a:rPr lang="en-US" sz="1200" b="1" dirty="0"/>
              <a:t> Advantages:</a:t>
            </a:r>
          </a:p>
          <a:p>
            <a:pPr marL="265113" indent="174625">
              <a:lnSpc>
                <a:spcPct val="150000"/>
              </a:lnSpc>
              <a:buFont typeface="Arial" panose="020B0604020202020204" pitchFamily="34" charset="0"/>
              <a:buChar char="•"/>
            </a:pPr>
            <a:r>
              <a:rPr lang="en-US" sz="1200" dirty="0"/>
              <a:t>Enables business users to query the systems using everyday Natural language.</a:t>
            </a:r>
          </a:p>
          <a:p>
            <a:pPr marL="265113" indent="174625">
              <a:lnSpc>
                <a:spcPct val="150000"/>
              </a:lnSpc>
              <a:buFont typeface="Arial" panose="020B0604020202020204" pitchFamily="34" charset="0"/>
              <a:buChar char="•"/>
            </a:pPr>
            <a:r>
              <a:rPr lang="en-US" sz="1200" dirty="0"/>
              <a:t>Reduces dependency on technical staff (IT).</a:t>
            </a:r>
          </a:p>
          <a:p>
            <a:pPr marL="265113" indent="174625">
              <a:lnSpc>
                <a:spcPct val="150000"/>
              </a:lnSpc>
              <a:buFont typeface="Arial" panose="020B0604020202020204" pitchFamily="34" charset="0"/>
              <a:buChar char="•"/>
            </a:pPr>
            <a:r>
              <a:rPr lang="en-US" sz="1200" dirty="0"/>
              <a:t>Demonstrates a low-code approach that speeds up development.</a:t>
            </a:r>
          </a:p>
          <a:p>
            <a:pPr marL="265113" indent="174625">
              <a:lnSpc>
                <a:spcPct val="150000"/>
              </a:lnSpc>
              <a:buFont typeface="Arial" panose="020B0604020202020204" pitchFamily="34" charset="0"/>
              <a:buChar char="•"/>
            </a:pPr>
            <a:r>
              <a:rPr lang="en-US" sz="1200" dirty="0"/>
              <a:t>Bridges modern AI with legacy enterprise infrastructure.</a:t>
            </a:r>
            <a:endParaRPr lang="en-US"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50;p2">
            <a:extLst>
              <a:ext uri="{FF2B5EF4-FFF2-40B4-BE49-F238E27FC236}">
                <a16:creationId xmlns:a16="http://schemas.microsoft.com/office/drawing/2014/main" id="{FE6B15BA-D591-F2EC-A145-0CB558F2C6BC}"/>
              </a:ext>
            </a:extLst>
          </p:cNvPr>
          <p:cNvSpPr txBox="1"/>
          <p:nvPr/>
        </p:nvSpPr>
        <p:spPr>
          <a:xfrm>
            <a:off x="192084" y="52110"/>
            <a:ext cx="7511473" cy="568437"/>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3000" b="1" dirty="0">
                <a:solidFill>
                  <a:schemeClr val="accent2"/>
                </a:solidFill>
                <a:latin typeface="Times New Roman" panose="02020603050405020304"/>
                <a:cs typeface="Times New Roman" panose="02020603050405020304"/>
                <a:sym typeface="Times New Roman" panose="02020603050405020304"/>
              </a:rPr>
              <a:t>Abstract</a:t>
            </a:r>
            <a:endParaRPr sz="3000" b="1" dirty="0">
              <a:solidFill>
                <a:schemeClr val="accent2"/>
              </a:solidFill>
              <a:latin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008921082"/>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E2BD1CC-CFEB-3339-370A-2446274FEF23}"/>
            </a:ext>
          </a:extLst>
        </p:cNvPr>
        <p:cNvGrpSpPr/>
        <p:nvPr/>
      </p:nvGrpSpPr>
      <p:grpSpPr>
        <a:xfrm>
          <a:off x="0" y="0"/>
          <a:ext cx="0" cy="0"/>
          <a:chOff x="0" y="0"/>
          <a:chExt cx="0" cy="0"/>
        </a:xfrm>
      </p:grpSpPr>
      <p:sp>
        <p:nvSpPr>
          <p:cNvPr id="236" name="Google Shape;236;p16">
            <a:extLst>
              <a:ext uri="{FF2B5EF4-FFF2-40B4-BE49-F238E27FC236}">
                <a16:creationId xmlns:a16="http://schemas.microsoft.com/office/drawing/2014/main" id="{388A09FC-C68A-AAB6-98EE-6D4473D27A76}"/>
              </a:ext>
            </a:extLst>
          </p:cNvPr>
          <p:cNvSpPr txBox="1">
            <a:spLocks noGrp="1"/>
          </p:cNvSpPr>
          <p:nvPr>
            <p:ph type="ctrTitle" idx="4294967295"/>
          </p:nvPr>
        </p:nvSpPr>
        <p:spPr>
          <a:xfrm>
            <a:off x="392959" y="67054"/>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6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Problem Inferred</a:t>
            </a:r>
            <a:endParaRPr sz="2600" b="1" i="0" u="none" strike="noStrike" cap="none" dirty="0">
              <a:solidFill>
                <a:schemeClr val="accent2"/>
              </a:solidFill>
              <a:latin typeface="Zilla Slab SemiBold"/>
              <a:ea typeface="Zilla Slab SemiBold"/>
              <a:cs typeface="Zilla Slab SemiBold"/>
              <a:sym typeface="Zilla Slab SemiBold"/>
            </a:endParaRPr>
          </a:p>
        </p:txBody>
      </p:sp>
      <p:sp>
        <p:nvSpPr>
          <p:cNvPr id="237" name="Google Shape;237;p16">
            <a:extLst>
              <a:ext uri="{FF2B5EF4-FFF2-40B4-BE49-F238E27FC236}">
                <a16:creationId xmlns:a16="http://schemas.microsoft.com/office/drawing/2014/main" id="{793F4ED2-2EC7-50DC-B4F5-68633D754301}"/>
              </a:ext>
            </a:extLst>
          </p:cNvPr>
          <p:cNvSpPr txBox="1">
            <a:spLocks noGrp="1"/>
          </p:cNvSpPr>
          <p:nvPr>
            <p:ph type="subTitle" idx="4294967295"/>
          </p:nvPr>
        </p:nvSpPr>
        <p:spPr>
          <a:xfrm>
            <a:off x="210208" y="893378"/>
            <a:ext cx="8187558" cy="3920360"/>
          </a:xfrm>
          <a:prstGeom prst="rect">
            <a:avLst/>
          </a:prstGeom>
          <a:noFill/>
          <a:ln>
            <a:noFill/>
          </a:ln>
        </p:spPr>
        <p:txBody>
          <a:bodyPr spcFirstLastPara="1" wrap="square" lIns="0" tIns="0" rIns="0" bIns="0" anchor="t" anchorCtr="0">
            <a:noAutofit/>
          </a:bodyPr>
          <a:lstStyle/>
          <a:p>
            <a:pPr marL="457200" marR="0" lvl="0" indent="-228600" algn="just" rtl="0">
              <a:lnSpc>
                <a:spcPct val="115000"/>
              </a:lnSpc>
              <a:spcBef>
                <a:spcPts val="0"/>
              </a:spcBef>
              <a:spcAft>
                <a:spcPts val="0"/>
              </a:spcAft>
              <a:buClr>
                <a:schemeClr val="accent2"/>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just" rtl="0">
              <a:lnSpc>
                <a:spcPct val="115000"/>
              </a:lnSpc>
              <a:spcBef>
                <a:spcPts val="800"/>
              </a:spcBef>
              <a:spcAft>
                <a:spcPts val="0"/>
              </a:spcAft>
              <a:buClr>
                <a:schemeClr val="accent1"/>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p16">
            <a:extLst>
              <a:ext uri="{FF2B5EF4-FFF2-40B4-BE49-F238E27FC236}">
                <a16:creationId xmlns:a16="http://schemas.microsoft.com/office/drawing/2014/main" id="{52EAA81F-48C5-0796-3570-0AF79A75D5A4}"/>
              </a:ext>
            </a:extLst>
          </p:cNvPr>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16">
            <a:extLst>
              <a:ext uri="{FF2B5EF4-FFF2-40B4-BE49-F238E27FC236}">
                <a16:creationId xmlns:a16="http://schemas.microsoft.com/office/drawing/2014/main" id="{F722D6FA-4DA7-B66B-50ED-EAF5181943F6}"/>
              </a:ext>
            </a:extLst>
          </p:cNvPr>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0" name="Google Shape;240;p16">
            <a:extLst>
              <a:ext uri="{FF2B5EF4-FFF2-40B4-BE49-F238E27FC236}">
                <a16:creationId xmlns:a16="http://schemas.microsoft.com/office/drawing/2014/main" id="{92AFEAD3-2C69-9E25-FC02-6FEA8396BC65}"/>
              </a:ext>
            </a:extLst>
          </p:cNvPr>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1" name="Google Shape;241;p16">
            <a:extLst>
              <a:ext uri="{FF2B5EF4-FFF2-40B4-BE49-F238E27FC236}">
                <a16:creationId xmlns:a16="http://schemas.microsoft.com/office/drawing/2014/main" id="{885E678B-D695-4FE0-2D96-6418DF9F32B5}"/>
              </a:ext>
            </a:extLst>
          </p:cNvPr>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2" name="Google Shape;242;p16">
            <a:extLst>
              <a:ext uri="{FF2B5EF4-FFF2-40B4-BE49-F238E27FC236}">
                <a16:creationId xmlns:a16="http://schemas.microsoft.com/office/drawing/2014/main" id="{DD09B3D4-34D5-00D0-A81D-D1FAB51547D2}"/>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3</a:t>
            </a:fld>
            <a:endParaRPr>
              <a:solidFill>
                <a:schemeClr val="dk1"/>
              </a:solidFill>
            </a:endParaRPr>
          </a:p>
        </p:txBody>
      </p:sp>
      <p:sp>
        <p:nvSpPr>
          <p:cNvPr id="3" name="TextBox 2">
            <a:extLst>
              <a:ext uri="{FF2B5EF4-FFF2-40B4-BE49-F238E27FC236}">
                <a16:creationId xmlns:a16="http://schemas.microsoft.com/office/drawing/2014/main" id="{B5503F13-9EAB-61DF-3C55-A8548A084FE0}"/>
              </a:ext>
            </a:extLst>
          </p:cNvPr>
          <p:cNvSpPr txBox="1"/>
          <p:nvPr/>
        </p:nvSpPr>
        <p:spPr>
          <a:xfrm>
            <a:off x="485774" y="461633"/>
            <a:ext cx="8180271" cy="4505529"/>
          </a:xfrm>
          <a:prstGeom prst="rect">
            <a:avLst/>
          </a:prstGeom>
          <a:noFill/>
        </p:spPr>
        <p:txBody>
          <a:bodyPr wrap="square">
            <a:spAutoFit/>
          </a:bodyPr>
          <a:lstStyle/>
          <a:p>
            <a:pPr algn="just"/>
            <a:r>
              <a:rPr lang="en-US" sz="1200" dirty="0"/>
              <a:t>Current enterprise chat systems, often based on rigid rule-based logic, fall short in delivering a natural and intuitive user experience. While they offer basic functionality, they lack contextual understanding, require frequent manual updates, and are unable to handle dynamic or complex queries. This leads to limited usability, increased support overhead, and reduced productivity.</a:t>
            </a:r>
          </a:p>
          <a:p>
            <a:pPr algn="just"/>
            <a:endParaRPr lang="en-US" sz="1200" dirty="0"/>
          </a:p>
          <a:p>
            <a:pPr algn="just">
              <a:lnSpc>
                <a:spcPct val="150000"/>
              </a:lnSpc>
            </a:pPr>
            <a:r>
              <a:rPr lang="en-US" sz="1200" dirty="0"/>
              <a:t>A solution is needed to: </a:t>
            </a:r>
          </a:p>
          <a:p>
            <a:pPr marL="355600" indent="-174625" algn="just">
              <a:lnSpc>
                <a:spcPct val="150000"/>
              </a:lnSpc>
              <a:buFont typeface="Arial" panose="020B0604020202020204" pitchFamily="34" charset="0"/>
              <a:buChar char="•"/>
            </a:pPr>
            <a:r>
              <a:rPr lang="en-US" sz="1200" dirty="0"/>
              <a:t>Enhance traditional rule-based chatbots by integrating Large Language Models (LLMs) and Retrieval-Augmented Generation (RAG) for smarter, context-aware interactions.</a:t>
            </a:r>
          </a:p>
          <a:p>
            <a:pPr marL="355600" indent="-174625" algn="just">
              <a:lnSpc>
                <a:spcPct val="150000"/>
              </a:lnSpc>
              <a:buFont typeface="Arial" panose="020B0604020202020204" pitchFamily="34" charset="0"/>
              <a:buChar char="•"/>
            </a:pPr>
            <a:r>
              <a:rPr lang="en-US" sz="1200" dirty="0"/>
              <a:t>Simplify access to enterprise data and actions using natural language interfaces.</a:t>
            </a:r>
          </a:p>
          <a:p>
            <a:pPr marL="355600" indent="-174625" algn="just">
              <a:lnSpc>
                <a:spcPct val="150000"/>
              </a:lnSpc>
              <a:buFont typeface="Arial" panose="020B0604020202020204" pitchFamily="34" charset="0"/>
              <a:buChar char="•"/>
            </a:pPr>
            <a:r>
              <a:rPr lang="en-US" sz="1200" dirty="0"/>
              <a:t>Improve accessibility and adoption for both technical and non-technical users across enterprise applications.</a:t>
            </a:r>
          </a:p>
          <a:p>
            <a:pPr marL="355600" indent="-174625" algn="just">
              <a:lnSpc>
                <a:spcPct val="150000"/>
              </a:lnSpc>
              <a:buFont typeface="Arial" panose="020B0604020202020204" pitchFamily="34" charset="0"/>
              <a:buChar char="•"/>
            </a:pPr>
            <a:endParaRPr lang="en-US" sz="1200" dirty="0"/>
          </a:p>
          <a:p>
            <a:r>
              <a:rPr lang="en-US" sz="1300" b="1" dirty="0"/>
              <a:t> </a:t>
            </a:r>
            <a:r>
              <a:rPr lang="en-US" sz="1300" b="1" u="sng" dirty="0"/>
              <a:t>Key problems identified include:</a:t>
            </a:r>
          </a:p>
          <a:p>
            <a:pPr marL="285750" indent="-195263">
              <a:lnSpc>
                <a:spcPct val="150000"/>
              </a:lnSpc>
              <a:buFont typeface="Arial" panose="020B0604020202020204" pitchFamily="34" charset="0"/>
              <a:buChar char="•"/>
            </a:pPr>
            <a:r>
              <a:rPr lang="en-US" sz="1200" b="1" dirty="0"/>
              <a:t>Rigid interaction flows: </a:t>
            </a:r>
            <a:r>
              <a:rPr lang="en-US" sz="1200" dirty="0"/>
              <a:t>Rule-based bots follow predefined paths, making them ineffective for handling dynamic or complex queries from users.</a:t>
            </a:r>
          </a:p>
          <a:p>
            <a:pPr marL="285750" indent="-195263">
              <a:lnSpc>
                <a:spcPct val="150000"/>
              </a:lnSpc>
              <a:buFont typeface="Arial" panose="020B0604020202020204" pitchFamily="34" charset="0"/>
              <a:buChar char="•"/>
            </a:pPr>
            <a:r>
              <a:rPr lang="en-US" sz="1200" b="1" dirty="0"/>
              <a:t>No natural language understanding:</a:t>
            </a:r>
            <a:r>
              <a:rPr lang="en-US" sz="1200" dirty="0"/>
              <a:t> Queries like </a:t>
            </a:r>
            <a:r>
              <a:rPr lang="en-US" sz="1200" i="1" dirty="0"/>
              <a:t>“What is my pending leave balance?”</a:t>
            </a:r>
            <a:r>
              <a:rPr lang="en-US" sz="1200" dirty="0"/>
              <a:t> often go unrecognized unless phrased exactly as expected.</a:t>
            </a:r>
          </a:p>
          <a:p>
            <a:pPr marL="285750" indent="-195263">
              <a:lnSpc>
                <a:spcPct val="150000"/>
              </a:lnSpc>
              <a:buFont typeface="Arial" panose="020B0604020202020204" pitchFamily="34" charset="0"/>
              <a:buChar char="•"/>
            </a:pPr>
            <a:r>
              <a:rPr lang="en-US" sz="1200" b="1" dirty="0"/>
              <a:t>High dependency on IT teams:</a:t>
            </a:r>
            <a:r>
              <a:rPr lang="en-US" sz="1200" dirty="0"/>
              <a:t> Non-technical users cannot rely on chatbots for advanced queries or data retrieval and must seek help from IT staff.</a:t>
            </a:r>
          </a:p>
        </p:txBody>
      </p:sp>
    </p:spTree>
    <p:extLst>
      <p:ext uri="{BB962C8B-B14F-4D97-AF65-F5344CB8AC3E}">
        <p14:creationId xmlns:p14="http://schemas.microsoft.com/office/powerpoint/2010/main" val="2259746361"/>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63093055-C3FB-CF2C-644E-8E69351CB5F9}"/>
            </a:ext>
          </a:extLst>
        </p:cNvPr>
        <p:cNvGrpSpPr/>
        <p:nvPr/>
      </p:nvGrpSpPr>
      <p:grpSpPr>
        <a:xfrm>
          <a:off x="0" y="0"/>
          <a:ext cx="0" cy="0"/>
          <a:chOff x="0" y="0"/>
          <a:chExt cx="0" cy="0"/>
        </a:xfrm>
      </p:grpSpPr>
      <p:sp>
        <p:nvSpPr>
          <p:cNvPr id="247" name="Google Shape;247;p17">
            <a:extLst>
              <a:ext uri="{FF2B5EF4-FFF2-40B4-BE49-F238E27FC236}">
                <a16:creationId xmlns:a16="http://schemas.microsoft.com/office/drawing/2014/main" id="{AA511B6C-8DE3-3F95-6B40-D08362042BFC}"/>
              </a:ext>
            </a:extLst>
          </p:cNvPr>
          <p:cNvSpPr txBox="1">
            <a:spLocks noGrp="1"/>
          </p:cNvSpPr>
          <p:nvPr>
            <p:ph type="ctrTitle" idx="4294967295"/>
          </p:nvPr>
        </p:nvSpPr>
        <p:spPr>
          <a:xfrm>
            <a:off x="361823" y="24682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Objective</a:t>
            </a:r>
            <a:endParaRPr sz="2800" b="1" i="0" u="none" strike="noStrike" cap="none" dirty="0">
              <a:solidFill>
                <a:schemeClr val="accent2"/>
              </a:solidFill>
              <a:latin typeface="Zilla Slab SemiBold"/>
              <a:ea typeface="Zilla Slab SemiBold"/>
              <a:cs typeface="Zilla Slab SemiBold"/>
              <a:sym typeface="Zilla Slab SemiBold"/>
            </a:endParaRPr>
          </a:p>
        </p:txBody>
      </p:sp>
      <p:sp>
        <p:nvSpPr>
          <p:cNvPr id="249" name="Google Shape;249;p17">
            <a:extLst>
              <a:ext uri="{FF2B5EF4-FFF2-40B4-BE49-F238E27FC236}">
                <a16:creationId xmlns:a16="http://schemas.microsoft.com/office/drawing/2014/main" id="{34FE8A3F-B84F-A2A8-6936-9902FD58B442}"/>
              </a:ext>
            </a:extLst>
          </p:cNvPr>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0" name="Google Shape;250;p17">
            <a:extLst>
              <a:ext uri="{FF2B5EF4-FFF2-40B4-BE49-F238E27FC236}">
                <a16:creationId xmlns:a16="http://schemas.microsoft.com/office/drawing/2014/main" id="{FDA72B70-BE8F-B26B-2C1E-CDBC442C9E34}"/>
              </a:ext>
            </a:extLst>
          </p:cNvPr>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1" name="Google Shape;251;p17">
            <a:extLst>
              <a:ext uri="{FF2B5EF4-FFF2-40B4-BE49-F238E27FC236}">
                <a16:creationId xmlns:a16="http://schemas.microsoft.com/office/drawing/2014/main" id="{D7283EBA-9AEC-92BA-CC6F-77B22C7DEC01}"/>
              </a:ext>
            </a:extLst>
          </p:cNvPr>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17">
            <a:extLst>
              <a:ext uri="{FF2B5EF4-FFF2-40B4-BE49-F238E27FC236}">
                <a16:creationId xmlns:a16="http://schemas.microsoft.com/office/drawing/2014/main" id="{AB1262A5-8769-5D2B-B01B-67287410683A}"/>
              </a:ext>
            </a:extLst>
          </p:cNvPr>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17">
            <a:extLst>
              <a:ext uri="{FF2B5EF4-FFF2-40B4-BE49-F238E27FC236}">
                <a16:creationId xmlns:a16="http://schemas.microsoft.com/office/drawing/2014/main" id="{B0EFE2E5-B9AA-B50B-649B-C7D364FC50EF}"/>
              </a:ext>
            </a:extLst>
          </p:cNvPr>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4" name="Google Shape;254;p17">
            <a:extLst>
              <a:ext uri="{FF2B5EF4-FFF2-40B4-BE49-F238E27FC236}">
                <a16:creationId xmlns:a16="http://schemas.microsoft.com/office/drawing/2014/main" id="{8F8AC265-B7CD-7465-3F94-64258FB6F461}"/>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4</a:t>
            </a:fld>
            <a:endParaRPr>
              <a:solidFill>
                <a:schemeClr val="dk1"/>
              </a:solidFill>
            </a:endParaRPr>
          </a:p>
        </p:txBody>
      </p:sp>
      <p:sp>
        <p:nvSpPr>
          <p:cNvPr id="3" name="TextBox 2">
            <a:extLst>
              <a:ext uri="{FF2B5EF4-FFF2-40B4-BE49-F238E27FC236}">
                <a16:creationId xmlns:a16="http://schemas.microsoft.com/office/drawing/2014/main" id="{CBB530A6-F1ED-4BA2-97D0-9F5F676EF795}"/>
              </a:ext>
            </a:extLst>
          </p:cNvPr>
          <p:cNvSpPr txBox="1"/>
          <p:nvPr/>
        </p:nvSpPr>
        <p:spPr>
          <a:xfrm>
            <a:off x="541704" y="737032"/>
            <a:ext cx="7834759" cy="3930371"/>
          </a:xfrm>
          <a:prstGeom prst="rect">
            <a:avLst/>
          </a:prstGeom>
          <a:noFill/>
        </p:spPr>
        <p:txBody>
          <a:bodyPr wrap="square">
            <a:spAutoFit/>
          </a:bodyPr>
          <a:lstStyle/>
          <a:p>
            <a:pPr>
              <a:lnSpc>
                <a:spcPct val="150000"/>
              </a:lnSpc>
            </a:pPr>
            <a:r>
              <a:rPr lang="en-IN" dirty="0"/>
              <a:t>The primary objective of this project is </a:t>
            </a:r>
            <a:r>
              <a:rPr lang="en-US" dirty="0"/>
              <a:t>to integrate </a:t>
            </a:r>
            <a:r>
              <a:rPr lang="en-US" b="1" dirty="0"/>
              <a:t>LLM</a:t>
            </a:r>
            <a:r>
              <a:rPr lang="en-US" dirty="0"/>
              <a:t> based smart assistant that simplifies application interaction using </a:t>
            </a:r>
            <a:r>
              <a:rPr lang="en-US" b="1" dirty="0"/>
              <a:t>RAG</a:t>
            </a:r>
            <a:r>
              <a:rPr lang="en-US" dirty="0"/>
              <a:t>, while requiring minimal development effort through low-code tools.</a:t>
            </a:r>
          </a:p>
          <a:p>
            <a:pPr>
              <a:lnSpc>
                <a:spcPct val="150000"/>
              </a:lnSpc>
            </a:pPr>
            <a:r>
              <a:rPr lang="en-US" b="1" dirty="0"/>
              <a:t>Key Objectives:</a:t>
            </a:r>
            <a:endParaRPr lang="en-US" dirty="0"/>
          </a:p>
          <a:p>
            <a:pPr marL="355600" indent="-174625">
              <a:lnSpc>
                <a:spcPct val="150000"/>
              </a:lnSpc>
              <a:buFont typeface="Arial" panose="020B0604020202020204" pitchFamily="34" charset="0"/>
              <a:buChar char="•"/>
            </a:pPr>
            <a:r>
              <a:rPr lang="en-US" dirty="0"/>
              <a:t>Design a conversational assistant interface and implement in the Enterprise Applications.</a:t>
            </a:r>
          </a:p>
          <a:p>
            <a:pPr marL="355600" indent="-174625">
              <a:lnSpc>
                <a:spcPct val="150000"/>
              </a:lnSpc>
              <a:buFont typeface="Arial" panose="020B0604020202020204" pitchFamily="34" charset="0"/>
              <a:buChar char="•"/>
            </a:pPr>
            <a:r>
              <a:rPr lang="en-US" dirty="0"/>
              <a:t>Integrate LLMs to understand user queries and perform data actions.</a:t>
            </a:r>
          </a:p>
          <a:p>
            <a:pPr marL="355600" indent="-174625">
              <a:lnSpc>
                <a:spcPct val="150000"/>
              </a:lnSpc>
              <a:buFont typeface="Arial" panose="020B0604020202020204" pitchFamily="34" charset="0"/>
              <a:buChar char="•"/>
            </a:pPr>
            <a:r>
              <a:rPr lang="en-US" dirty="0"/>
              <a:t>Use a RAG model to retrieve relevant application documents and data.</a:t>
            </a:r>
          </a:p>
          <a:p>
            <a:pPr marL="355600" indent="-174625">
              <a:lnSpc>
                <a:spcPct val="150000"/>
              </a:lnSpc>
              <a:buFont typeface="Arial" panose="020B0604020202020204" pitchFamily="34" charset="0"/>
              <a:buChar char="•"/>
            </a:pPr>
            <a:r>
              <a:rPr lang="en-US" dirty="0"/>
              <a:t>Minimize technical overhead by using low-code tools and reusable components.</a:t>
            </a:r>
          </a:p>
          <a:p>
            <a:pPr>
              <a:lnSpc>
                <a:spcPct val="150000"/>
              </a:lnSpc>
            </a:pPr>
            <a:r>
              <a:rPr lang="en-US" b="1" dirty="0"/>
              <a:t>Sub-objectives:</a:t>
            </a:r>
            <a:endParaRPr lang="en-US" dirty="0"/>
          </a:p>
          <a:p>
            <a:pPr marL="355600" indent="-174625">
              <a:lnSpc>
                <a:spcPct val="150000"/>
              </a:lnSpc>
              <a:buFont typeface="Arial" panose="020B0604020202020204" pitchFamily="34" charset="0"/>
              <a:buChar char="•"/>
            </a:pPr>
            <a:r>
              <a:rPr lang="en-US" dirty="0"/>
              <a:t>Improve accessibility of Enterprise data and reports.</a:t>
            </a:r>
          </a:p>
          <a:p>
            <a:pPr marL="355600" indent="-174625">
              <a:lnSpc>
                <a:spcPct val="150000"/>
              </a:lnSpc>
              <a:buFont typeface="Arial" panose="020B0604020202020204" pitchFamily="34" charset="0"/>
              <a:buChar char="•"/>
            </a:pPr>
            <a:r>
              <a:rPr lang="en-US" dirty="0"/>
              <a:t>Build an extensible architecture for future Enterprise modules like ERP / CRM.</a:t>
            </a:r>
          </a:p>
          <a:p>
            <a:pPr marL="355600" indent="-174625">
              <a:lnSpc>
                <a:spcPct val="150000"/>
              </a:lnSpc>
              <a:buFont typeface="Arial" panose="020B0604020202020204" pitchFamily="34" charset="0"/>
              <a:buChar char="•"/>
            </a:pPr>
            <a:r>
              <a:rPr lang="en-US" dirty="0"/>
              <a:t>Provide a secure and scalable framework for enterprise use.</a:t>
            </a:r>
            <a:endParaRPr lang="en-IN" dirty="0"/>
          </a:p>
        </p:txBody>
      </p:sp>
    </p:spTree>
    <p:extLst>
      <p:ext uri="{BB962C8B-B14F-4D97-AF65-F5344CB8AC3E}">
        <p14:creationId xmlns:p14="http://schemas.microsoft.com/office/powerpoint/2010/main" val="33216913"/>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lvl="0"/>
            <a:r>
              <a:rPr lang="en-US"/>
              <a:t>*</a:t>
            </a:r>
          </a:p>
        </p:txBody>
      </p:sp>
      <p:sp>
        <p:nvSpPr>
          <p:cNvPr id="5" name="TextBox 4">
            <a:extLst>
              <a:ext uri="{FF2B5EF4-FFF2-40B4-BE49-F238E27FC236}">
                <a16:creationId xmlns:a16="http://schemas.microsoft.com/office/drawing/2014/main" id="{CCE5C91A-DBF0-CC14-2A10-54E9221D2BF7}"/>
              </a:ext>
            </a:extLst>
          </p:cNvPr>
          <p:cNvSpPr txBox="1"/>
          <p:nvPr/>
        </p:nvSpPr>
        <p:spPr>
          <a:xfrm>
            <a:off x="508174" y="429527"/>
            <a:ext cx="7847350" cy="4576702"/>
          </a:xfrm>
          <a:prstGeom prst="rect">
            <a:avLst/>
          </a:prstGeom>
          <a:noFill/>
        </p:spPr>
        <p:txBody>
          <a:bodyPr wrap="square">
            <a:spAutoFit/>
          </a:bodyPr>
          <a:lstStyle/>
          <a:p>
            <a:pPr>
              <a:lnSpc>
                <a:spcPct val="150000"/>
              </a:lnSpc>
            </a:pPr>
            <a:r>
              <a:rPr lang="en-US" dirty="0"/>
              <a:t>This project focuses on the design and development of a prototype Conversational AI Assistant integrated into low-code enterprise applications. Rather than replacing existing </a:t>
            </a:r>
            <a:r>
              <a:rPr lang="en-US" b="1" dirty="0"/>
              <a:t>rule-based chat </a:t>
            </a:r>
            <a:r>
              <a:rPr lang="en-US" dirty="0"/>
              <a:t>systems, it aims to enhance user interaction by leveraging Retrieval-Augmented Generation (</a:t>
            </a:r>
            <a:r>
              <a:rPr lang="en-US" b="1" dirty="0"/>
              <a:t>RAG</a:t>
            </a:r>
            <a:r>
              <a:rPr lang="en-US" dirty="0"/>
              <a:t>) and Large Language Models </a:t>
            </a:r>
            <a:r>
              <a:rPr lang="en-US" b="1" dirty="0"/>
              <a:t>(LLMs</a:t>
            </a:r>
            <a:r>
              <a:rPr lang="en-US" dirty="0"/>
              <a:t>) to provide context-aware, intelligent responses from internal business data sources.</a:t>
            </a:r>
          </a:p>
          <a:p>
            <a:pPr>
              <a:lnSpc>
                <a:spcPct val="150000"/>
              </a:lnSpc>
            </a:pPr>
            <a:r>
              <a:rPr lang="en-US" b="1" dirty="0"/>
              <a:t>Within Scope:</a:t>
            </a:r>
            <a:endParaRPr lang="en-US" dirty="0"/>
          </a:p>
          <a:p>
            <a:pPr marL="355600" indent="-174625">
              <a:lnSpc>
                <a:spcPct val="150000"/>
              </a:lnSpc>
              <a:buFont typeface="Arial" panose="020B0604020202020204" pitchFamily="34" charset="0"/>
              <a:buChar char="•"/>
            </a:pPr>
            <a:r>
              <a:rPr lang="en-US" dirty="0"/>
              <a:t>Build a chatbot UI using </a:t>
            </a:r>
            <a:r>
              <a:rPr lang="en-US" b="1" dirty="0"/>
              <a:t>Oracle</a:t>
            </a:r>
            <a:r>
              <a:rPr lang="en-US" dirty="0"/>
              <a:t> </a:t>
            </a:r>
            <a:r>
              <a:rPr lang="en-US" b="1" dirty="0"/>
              <a:t>APEX</a:t>
            </a:r>
            <a:r>
              <a:rPr lang="en-US" dirty="0"/>
              <a:t>.</a:t>
            </a:r>
          </a:p>
          <a:p>
            <a:pPr marL="355600" indent="-174625">
              <a:lnSpc>
                <a:spcPct val="150000"/>
              </a:lnSpc>
              <a:buFont typeface="Arial" panose="020B0604020202020204" pitchFamily="34" charset="0"/>
              <a:buChar char="•"/>
            </a:pPr>
            <a:r>
              <a:rPr lang="en-US" dirty="0"/>
              <a:t>Connect the assistant to Enterprise applications like ERP / CRM.</a:t>
            </a:r>
          </a:p>
          <a:p>
            <a:pPr marL="355600" indent="-174625">
              <a:lnSpc>
                <a:spcPct val="150000"/>
              </a:lnSpc>
              <a:buFont typeface="Arial" panose="020B0604020202020204" pitchFamily="34" charset="0"/>
              <a:buChar char="•"/>
            </a:pPr>
            <a:r>
              <a:rPr lang="en-US" dirty="0"/>
              <a:t>Use LLMs to understand and respond to natural language queries.</a:t>
            </a:r>
          </a:p>
          <a:p>
            <a:pPr marL="355600" indent="-174625">
              <a:lnSpc>
                <a:spcPct val="150000"/>
              </a:lnSpc>
              <a:buFont typeface="Arial" panose="020B0604020202020204" pitchFamily="34" charset="0"/>
              <a:buChar char="•"/>
            </a:pPr>
            <a:r>
              <a:rPr lang="en-US" dirty="0"/>
              <a:t>Implement vector search to retrieve documents or past queries for better context.</a:t>
            </a:r>
          </a:p>
          <a:p>
            <a:pPr>
              <a:lnSpc>
                <a:spcPct val="150000"/>
              </a:lnSpc>
            </a:pPr>
            <a:r>
              <a:rPr lang="en-US" b="1" dirty="0"/>
              <a:t>Out of Scope (for now):</a:t>
            </a:r>
            <a:endParaRPr lang="en-US" dirty="0"/>
          </a:p>
          <a:p>
            <a:pPr marL="355600" indent="-174625">
              <a:lnSpc>
                <a:spcPct val="150000"/>
              </a:lnSpc>
              <a:buFont typeface="Arial" panose="020B0604020202020204" pitchFamily="34" charset="0"/>
              <a:buChar char="•"/>
            </a:pPr>
            <a:r>
              <a:rPr lang="en-US" dirty="0"/>
              <a:t>Voice-based assistants or speech recognition.</a:t>
            </a:r>
          </a:p>
          <a:p>
            <a:pPr marL="355600" indent="-174625">
              <a:lnSpc>
                <a:spcPct val="150000"/>
              </a:lnSpc>
              <a:buFont typeface="Arial" panose="020B0604020202020204" pitchFamily="34" charset="0"/>
              <a:buChar char="•"/>
            </a:pPr>
            <a:r>
              <a:rPr lang="en-US" dirty="0"/>
              <a:t>Real-time data syncing across multiple Applications.</a:t>
            </a:r>
          </a:p>
          <a:p>
            <a:pPr marL="355600" indent="-174625">
              <a:lnSpc>
                <a:spcPct val="150000"/>
              </a:lnSpc>
              <a:buFont typeface="Arial" panose="020B0604020202020204" pitchFamily="34" charset="0"/>
              <a:buChar char="•"/>
            </a:pPr>
            <a:r>
              <a:rPr lang="en-US" dirty="0"/>
              <a:t>Full security and authorization layer beyond the prototype.</a:t>
            </a:r>
            <a:endParaRPr lang="en-IN" dirty="0"/>
          </a:p>
        </p:txBody>
      </p:sp>
      <p:sp>
        <p:nvSpPr>
          <p:cNvPr id="6" name="Google Shape;247;p17">
            <a:extLst>
              <a:ext uri="{FF2B5EF4-FFF2-40B4-BE49-F238E27FC236}">
                <a16:creationId xmlns:a16="http://schemas.microsoft.com/office/drawing/2014/main" id="{FC087296-77C5-3A77-63CA-A1F806261CE8}"/>
              </a:ext>
            </a:extLst>
          </p:cNvPr>
          <p:cNvSpPr txBox="1">
            <a:spLocks/>
          </p:cNvSpPr>
          <p:nvPr/>
        </p:nvSpPr>
        <p:spPr>
          <a:xfrm>
            <a:off x="354328" y="75176"/>
            <a:ext cx="7049322" cy="46696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a:r>
              <a:rPr lang="en-US" sz="3000" b="1" dirty="0">
                <a:latin typeface="Times New Roman" panose="02020603050405020304"/>
                <a:ea typeface="Times New Roman" panose="02020603050405020304"/>
                <a:cs typeface="Times New Roman" panose="02020603050405020304"/>
                <a:sym typeface="Times New Roman" panose="02020603050405020304"/>
              </a:rPr>
              <a:t>Scope of this Project</a:t>
            </a:r>
            <a:endParaRPr lang="en-US" sz="3000" b="1" dirty="0"/>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6</a:t>
            </a:fld>
            <a:endParaRPr>
              <a:solidFill>
                <a:schemeClr val="dk1"/>
              </a:solidFill>
            </a:endParaRPr>
          </a:p>
        </p:txBody>
      </p:sp>
      <p:sp>
        <p:nvSpPr>
          <p:cNvPr id="260" name="Google Shape;260;p18"/>
          <p:cNvSpPr txBox="1"/>
          <p:nvPr/>
        </p:nvSpPr>
        <p:spPr>
          <a:xfrm>
            <a:off x="371386" y="72832"/>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Proposed Work Outline</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2" name="Google Shape;262;p18"/>
          <p:cNvSpPr/>
          <p:nvPr/>
        </p:nvSpPr>
        <p:spPr>
          <a:xfrm rot="2466640">
            <a:off x="7076737" y="44353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3" name="Google Shape;263;p18"/>
          <p:cNvSpPr/>
          <p:nvPr/>
        </p:nvSpPr>
        <p:spPr>
          <a:xfrm rot="2466640">
            <a:off x="8614595" y="405879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TextBox 2">
            <a:extLst>
              <a:ext uri="{FF2B5EF4-FFF2-40B4-BE49-F238E27FC236}">
                <a16:creationId xmlns:a16="http://schemas.microsoft.com/office/drawing/2014/main" id="{DDB77E56-A933-8883-DF8E-8126E616DC2E}"/>
              </a:ext>
            </a:extLst>
          </p:cNvPr>
          <p:cNvSpPr txBox="1"/>
          <p:nvPr/>
        </p:nvSpPr>
        <p:spPr>
          <a:xfrm>
            <a:off x="563623" y="410157"/>
            <a:ext cx="7922301" cy="4576702"/>
          </a:xfrm>
          <a:prstGeom prst="rect">
            <a:avLst/>
          </a:prstGeom>
          <a:noFill/>
        </p:spPr>
        <p:txBody>
          <a:bodyPr wrap="square">
            <a:spAutoFit/>
          </a:bodyPr>
          <a:lstStyle/>
          <a:p>
            <a:pPr>
              <a:lnSpc>
                <a:spcPct val="150000"/>
              </a:lnSpc>
            </a:pPr>
            <a:r>
              <a:rPr lang="en-US" dirty="0"/>
              <a:t>This system combines a low-code frontend, an AI-powered backend, and RAG data sources using a modular architecture.</a:t>
            </a:r>
          </a:p>
          <a:p>
            <a:pPr>
              <a:lnSpc>
                <a:spcPct val="150000"/>
              </a:lnSpc>
            </a:pPr>
            <a:r>
              <a:rPr lang="en-US" b="1" dirty="0"/>
              <a:t>Workflow Overview:</a:t>
            </a:r>
            <a:endParaRPr lang="en-US" dirty="0"/>
          </a:p>
          <a:p>
            <a:pPr marL="355600" indent="-174625">
              <a:lnSpc>
                <a:spcPct val="150000"/>
              </a:lnSpc>
              <a:buFont typeface="Arial" panose="020B0604020202020204" pitchFamily="34" charset="0"/>
              <a:buChar char="•"/>
            </a:pPr>
            <a:r>
              <a:rPr lang="en-US" dirty="0"/>
              <a:t>User types a query in the APEX chatbot interface.</a:t>
            </a:r>
          </a:p>
          <a:p>
            <a:pPr marL="355600" indent="-174625">
              <a:lnSpc>
                <a:spcPct val="150000"/>
              </a:lnSpc>
              <a:buFont typeface="Arial" panose="020B0604020202020204" pitchFamily="34" charset="0"/>
              <a:buChar char="•"/>
            </a:pPr>
            <a:r>
              <a:rPr lang="en-US" dirty="0"/>
              <a:t>The query is sent to </a:t>
            </a:r>
            <a:r>
              <a:rPr lang="en-IN" dirty="0"/>
              <a:t>to Python (Flask) backend via REST</a:t>
            </a:r>
            <a:endParaRPr lang="en-US" dirty="0"/>
          </a:p>
          <a:p>
            <a:pPr marL="355600" indent="-174625">
              <a:lnSpc>
                <a:spcPct val="150000"/>
              </a:lnSpc>
              <a:buFont typeface="Arial" panose="020B0604020202020204" pitchFamily="34" charset="0"/>
              <a:buChar char="•"/>
            </a:pPr>
            <a:r>
              <a:rPr lang="en-US" dirty="0"/>
              <a:t>Embeddings created, matched with Knowledge Base (RAG using </a:t>
            </a:r>
            <a:r>
              <a:rPr lang="en-US" dirty="0" err="1"/>
              <a:t>LangChain</a:t>
            </a:r>
            <a:r>
              <a:rPr lang="en-US" dirty="0"/>
              <a:t>/</a:t>
            </a:r>
            <a:r>
              <a:rPr lang="en-US" dirty="0" err="1"/>
              <a:t>LlamaIndex</a:t>
            </a:r>
            <a:r>
              <a:rPr lang="en-US" dirty="0"/>
              <a:t>)</a:t>
            </a:r>
          </a:p>
          <a:p>
            <a:pPr marL="355600" indent="-174625">
              <a:lnSpc>
                <a:spcPct val="150000"/>
              </a:lnSpc>
              <a:buFont typeface="Arial" panose="020B0604020202020204" pitchFamily="34" charset="0"/>
              <a:buChar char="•"/>
            </a:pPr>
            <a:r>
              <a:rPr lang="en-US" dirty="0"/>
              <a:t>The LLM uses the retrieved context to generate a response.</a:t>
            </a:r>
          </a:p>
          <a:p>
            <a:pPr marL="355600" indent="-174625">
              <a:lnSpc>
                <a:spcPct val="150000"/>
              </a:lnSpc>
              <a:buFont typeface="Arial" panose="020B0604020202020204" pitchFamily="34" charset="0"/>
              <a:buChar char="•"/>
            </a:pPr>
            <a:r>
              <a:rPr lang="en-US" dirty="0"/>
              <a:t>The response is returned to the Apex UI.</a:t>
            </a:r>
          </a:p>
          <a:p>
            <a:pPr>
              <a:lnSpc>
                <a:spcPct val="150000"/>
              </a:lnSpc>
            </a:pPr>
            <a:r>
              <a:rPr lang="en-US" b="1" dirty="0"/>
              <a:t>System Layers:</a:t>
            </a:r>
            <a:endParaRPr lang="en-US" dirty="0"/>
          </a:p>
          <a:p>
            <a:pPr marL="355600" indent="-174625">
              <a:lnSpc>
                <a:spcPct val="150000"/>
              </a:lnSpc>
              <a:buFont typeface="Arial" panose="020B0604020202020204" pitchFamily="34" charset="0"/>
              <a:buChar char="•"/>
            </a:pPr>
            <a:r>
              <a:rPr lang="en-US" b="1" dirty="0"/>
              <a:t>Frontend:</a:t>
            </a:r>
            <a:r>
              <a:rPr lang="en-US" dirty="0"/>
              <a:t> Oracle APEX with dynamic actions and RESTful APIs.</a:t>
            </a:r>
          </a:p>
          <a:p>
            <a:pPr marL="355600" indent="-174625">
              <a:lnSpc>
                <a:spcPct val="150000"/>
              </a:lnSpc>
              <a:buFont typeface="Arial" panose="020B0604020202020204" pitchFamily="34" charset="0"/>
              <a:buChar char="•"/>
            </a:pPr>
            <a:r>
              <a:rPr lang="en-US" b="1" dirty="0"/>
              <a:t>Middleware:</a:t>
            </a:r>
            <a:r>
              <a:rPr lang="en-US" dirty="0"/>
              <a:t> Python Flask for embedding, LLM orchestration.</a:t>
            </a:r>
          </a:p>
          <a:p>
            <a:pPr marL="355600" indent="-174625">
              <a:lnSpc>
                <a:spcPct val="150000"/>
              </a:lnSpc>
              <a:buFont typeface="Arial" panose="020B0604020202020204" pitchFamily="34" charset="0"/>
              <a:buChar char="•"/>
            </a:pPr>
            <a:r>
              <a:rPr lang="en-US" b="1" dirty="0"/>
              <a:t>RAG Engine:</a:t>
            </a:r>
            <a:r>
              <a:rPr lang="en-US" dirty="0"/>
              <a:t> Uses </a:t>
            </a:r>
            <a:r>
              <a:rPr lang="en-US" dirty="0" err="1"/>
              <a:t>LangChain</a:t>
            </a:r>
            <a:r>
              <a:rPr lang="en-US" dirty="0"/>
              <a:t> or </a:t>
            </a:r>
            <a:r>
              <a:rPr lang="en-US" dirty="0" err="1"/>
              <a:t>LlamaIndex</a:t>
            </a:r>
            <a:r>
              <a:rPr lang="en-US" dirty="0"/>
              <a:t> to retrieve document chunks.</a:t>
            </a:r>
          </a:p>
          <a:p>
            <a:pPr marL="355600" indent="-174625">
              <a:lnSpc>
                <a:spcPct val="150000"/>
              </a:lnSpc>
              <a:buFont typeface="Arial" panose="020B0604020202020204" pitchFamily="34" charset="0"/>
              <a:buChar char="•"/>
            </a:pPr>
            <a:r>
              <a:rPr lang="en-US" b="1" dirty="0"/>
              <a:t>LLM Integration:</a:t>
            </a:r>
            <a:r>
              <a:rPr lang="en-US" dirty="0"/>
              <a:t> GPT or open-source models to generate text.</a:t>
            </a:r>
          </a:p>
          <a:p>
            <a:pPr marL="355600" indent="-174625">
              <a:lnSpc>
                <a:spcPct val="150000"/>
              </a:lnSpc>
              <a:buFont typeface="Arial" panose="020B0604020202020204" pitchFamily="34" charset="0"/>
              <a:buChar char="•"/>
            </a:pPr>
            <a:r>
              <a:rPr lang="en-US" b="1" dirty="0"/>
              <a:t>Data Layer:</a:t>
            </a:r>
            <a:r>
              <a:rPr lang="en-US" dirty="0"/>
              <a:t> Oracle ERP tables, policy docs, internal knowledge base.</a:t>
            </a: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9"/>
          <p:cNvSpPr txBox="1">
            <a:spLocks noGrp="1"/>
          </p:cNvSpPr>
          <p:nvPr>
            <p:ph type="ctrTitle" idx="4294967295"/>
          </p:nvPr>
        </p:nvSpPr>
        <p:spPr>
          <a:xfrm>
            <a:off x="307921" y="141862"/>
            <a:ext cx="7049322" cy="466968"/>
          </a:xfrm>
          <a:prstGeom prst="rect">
            <a:avLst/>
          </a:prstGeom>
          <a:noFill/>
          <a:ln>
            <a:noFill/>
          </a:ln>
        </p:spPr>
        <p:txBody>
          <a:bodyPr spcFirstLastPara="1" wrap="square" lIns="0" tIns="0" rIns="0" bIns="0" anchor="t" anchorCtr="0">
            <a:noAutofit/>
          </a:bodyPr>
          <a:lstStyle/>
          <a:p>
            <a:pPr marL="25400"/>
            <a:r>
              <a:rPr lang="en-US" dirty="0">
                <a:latin typeface="Times New Roman" panose="02020603050405020304"/>
                <a:ea typeface="Times New Roman" panose="02020603050405020304"/>
                <a:cs typeface="Times New Roman" panose="02020603050405020304"/>
                <a:sym typeface="+mn-ea"/>
              </a:rPr>
              <a:t>Block Diagram</a:t>
            </a:r>
            <a:endParaRPr lang="en-US" dirty="0">
              <a:latin typeface="Times New Roman" panose="02020603050405020304"/>
              <a:ea typeface="Times New Roman" panose="02020603050405020304"/>
              <a:cs typeface="Times New Roman" panose="02020603050405020304"/>
            </a:endParaRPr>
          </a:p>
        </p:txBody>
      </p:sp>
      <p:sp>
        <p:nvSpPr>
          <p:cNvPr id="269" name="Google Shape;269;p19"/>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7</a:t>
            </a:fld>
            <a:endParaRPr>
              <a:solidFill>
                <a:schemeClr val="dk1"/>
              </a:solidFill>
            </a:endParaRPr>
          </a:p>
        </p:txBody>
      </p:sp>
      <p:sp>
        <p:nvSpPr>
          <p:cNvPr id="271" name="Google Shape;271;p19"/>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 name="Picture 3">
            <a:extLst>
              <a:ext uri="{FF2B5EF4-FFF2-40B4-BE49-F238E27FC236}">
                <a16:creationId xmlns:a16="http://schemas.microsoft.com/office/drawing/2014/main" id="{6B167A45-283C-DA24-F52D-A7B487FB8180}"/>
              </a:ext>
            </a:extLst>
          </p:cNvPr>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rcRect t="15399" b="9447"/>
          <a:stretch>
            <a:fillRect/>
          </a:stretch>
        </p:blipFill>
        <p:spPr>
          <a:xfrm>
            <a:off x="307921" y="677075"/>
            <a:ext cx="8552408" cy="3996575"/>
          </a:xfrm>
          <a:prstGeom prst="rect">
            <a:avLst/>
          </a:prstGeom>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170B3A56-0B67-F39D-B437-6866C943624A}"/>
            </a:ext>
          </a:extLst>
        </p:cNvPr>
        <p:cNvGrpSpPr/>
        <p:nvPr/>
      </p:nvGrpSpPr>
      <p:grpSpPr>
        <a:xfrm>
          <a:off x="0" y="0"/>
          <a:ext cx="0" cy="0"/>
          <a:chOff x="0" y="0"/>
          <a:chExt cx="0" cy="0"/>
        </a:xfrm>
      </p:grpSpPr>
      <p:sp>
        <p:nvSpPr>
          <p:cNvPr id="269" name="Google Shape;269;p19">
            <a:extLst>
              <a:ext uri="{FF2B5EF4-FFF2-40B4-BE49-F238E27FC236}">
                <a16:creationId xmlns:a16="http://schemas.microsoft.com/office/drawing/2014/main" id="{4F445EFB-3C56-4356-2AD5-3071EA683B74}"/>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8</a:t>
            </a:fld>
            <a:endParaRPr>
              <a:solidFill>
                <a:schemeClr val="dk1"/>
              </a:solidFill>
            </a:endParaRPr>
          </a:p>
        </p:txBody>
      </p:sp>
      <p:sp>
        <p:nvSpPr>
          <p:cNvPr id="271" name="Google Shape;271;p19">
            <a:extLst>
              <a:ext uri="{FF2B5EF4-FFF2-40B4-BE49-F238E27FC236}">
                <a16:creationId xmlns:a16="http://schemas.microsoft.com/office/drawing/2014/main" id="{86FECA2F-F3DD-2061-4321-5B1DDD519302}"/>
              </a:ext>
            </a:extLst>
          </p:cNvPr>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a:extLst>
              <a:ext uri="{FF2B5EF4-FFF2-40B4-BE49-F238E27FC236}">
                <a16:creationId xmlns:a16="http://schemas.microsoft.com/office/drawing/2014/main" id="{0DB7DA56-9556-EB35-47E3-4EB6F7E7463B}"/>
              </a:ext>
            </a:extLst>
          </p:cNvPr>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a:extLst>
              <a:ext uri="{FF2B5EF4-FFF2-40B4-BE49-F238E27FC236}">
                <a16:creationId xmlns:a16="http://schemas.microsoft.com/office/drawing/2014/main" id="{CA9A63ED-6F56-BD6F-CA73-8A4F5DDA13A3}"/>
              </a:ext>
            </a:extLst>
          </p:cNvPr>
          <p:cNvSpPr txBox="1"/>
          <p:nvPr/>
        </p:nvSpPr>
        <p:spPr>
          <a:xfrm>
            <a:off x="267706" y="196229"/>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Module Flow Diagram</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 name="Picture 4">
            <a:extLst>
              <a:ext uri="{FF2B5EF4-FFF2-40B4-BE49-F238E27FC236}">
                <a16:creationId xmlns:a16="http://schemas.microsoft.com/office/drawing/2014/main" id="{DA3CFE2E-C6EC-7731-E513-ECA138D3878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029385" y="699816"/>
            <a:ext cx="3231811" cy="3973835"/>
          </a:xfrm>
          <a:prstGeom prst="rect">
            <a:avLst/>
          </a:prstGeom>
        </p:spPr>
      </p:pic>
    </p:spTree>
    <p:extLst>
      <p:ext uri="{BB962C8B-B14F-4D97-AF65-F5344CB8AC3E}">
        <p14:creationId xmlns:p14="http://schemas.microsoft.com/office/powerpoint/2010/main" val="1285019543"/>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9D26C79F-400F-EDBB-0652-76D4CE4788A7}"/>
            </a:ext>
          </a:extLst>
        </p:cNvPr>
        <p:cNvGrpSpPr/>
        <p:nvPr/>
      </p:nvGrpSpPr>
      <p:grpSpPr>
        <a:xfrm>
          <a:off x="0" y="0"/>
          <a:ext cx="0" cy="0"/>
          <a:chOff x="0" y="0"/>
          <a:chExt cx="0" cy="0"/>
        </a:xfrm>
      </p:grpSpPr>
      <p:sp>
        <p:nvSpPr>
          <p:cNvPr id="269" name="Google Shape;269;p19">
            <a:extLst>
              <a:ext uri="{FF2B5EF4-FFF2-40B4-BE49-F238E27FC236}">
                <a16:creationId xmlns:a16="http://schemas.microsoft.com/office/drawing/2014/main" id="{5EEB9F05-17F7-9288-2900-EA11C79E569D}"/>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9</a:t>
            </a:fld>
            <a:endParaRPr>
              <a:solidFill>
                <a:schemeClr val="dk1"/>
              </a:solidFill>
            </a:endParaRPr>
          </a:p>
        </p:txBody>
      </p:sp>
      <p:sp>
        <p:nvSpPr>
          <p:cNvPr id="271" name="Google Shape;271;p19">
            <a:extLst>
              <a:ext uri="{FF2B5EF4-FFF2-40B4-BE49-F238E27FC236}">
                <a16:creationId xmlns:a16="http://schemas.microsoft.com/office/drawing/2014/main" id="{76BAAFDF-E7B8-3F02-EB64-BCACF9FCF1E4}"/>
              </a:ext>
            </a:extLst>
          </p:cNvPr>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a:extLst>
              <a:ext uri="{FF2B5EF4-FFF2-40B4-BE49-F238E27FC236}">
                <a16:creationId xmlns:a16="http://schemas.microsoft.com/office/drawing/2014/main" id="{CF86B310-424E-6EC9-150F-634A0B358420}"/>
              </a:ext>
            </a:extLst>
          </p:cNvPr>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a:extLst>
              <a:ext uri="{FF2B5EF4-FFF2-40B4-BE49-F238E27FC236}">
                <a16:creationId xmlns:a16="http://schemas.microsoft.com/office/drawing/2014/main" id="{A0C41926-641A-F255-0191-D133F3C4C796}"/>
              </a:ext>
            </a:extLst>
          </p:cNvPr>
          <p:cNvSpPr txBox="1"/>
          <p:nvPr/>
        </p:nvSpPr>
        <p:spPr>
          <a:xfrm>
            <a:off x="512181" y="607765"/>
            <a:ext cx="7049322" cy="340713"/>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Low-Code Platform:</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2" name="TextBox 1">
            <a:extLst>
              <a:ext uri="{FF2B5EF4-FFF2-40B4-BE49-F238E27FC236}">
                <a16:creationId xmlns:a16="http://schemas.microsoft.com/office/drawing/2014/main" id="{251B4843-000F-7938-3A42-0711BA4F542C}"/>
              </a:ext>
            </a:extLst>
          </p:cNvPr>
          <p:cNvSpPr txBox="1"/>
          <p:nvPr/>
        </p:nvSpPr>
        <p:spPr>
          <a:xfrm>
            <a:off x="565022" y="894584"/>
            <a:ext cx="5059181" cy="461665"/>
          </a:xfrm>
          <a:prstGeom prst="rect">
            <a:avLst/>
          </a:prstGeom>
          <a:noFill/>
        </p:spPr>
        <p:txBody>
          <a:bodyPr wrap="square">
            <a:spAutoFit/>
          </a:bodyPr>
          <a:lstStyle/>
          <a:p>
            <a:r>
              <a:rPr lang="en-IN" sz="1200" dirty="0"/>
              <a:t>Oracle APEX – For building UI, managing session state, and calling REST services.</a:t>
            </a:r>
          </a:p>
        </p:txBody>
      </p:sp>
      <p:sp>
        <p:nvSpPr>
          <p:cNvPr id="5" name="TextBox 4">
            <a:extLst>
              <a:ext uri="{FF2B5EF4-FFF2-40B4-BE49-F238E27FC236}">
                <a16:creationId xmlns:a16="http://schemas.microsoft.com/office/drawing/2014/main" id="{9FEF3386-3432-D227-602A-484C2A5524C9}"/>
              </a:ext>
            </a:extLst>
          </p:cNvPr>
          <p:cNvSpPr txBox="1"/>
          <p:nvPr/>
        </p:nvSpPr>
        <p:spPr>
          <a:xfrm>
            <a:off x="585962" y="4255947"/>
            <a:ext cx="4572000" cy="61292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PL/SQL, JavaScript, Python</a:t>
            </a:r>
          </a:p>
          <a:p>
            <a:pPr marL="285750" indent="-285750">
              <a:lnSpc>
                <a:spcPct val="150000"/>
              </a:lnSpc>
              <a:buFont typeface="Arial" panose="020B0604020202020204" pitchFamily="34" charset="0"/>
              <a:buChar char="•"/>
            </a:pPr>
            <a:r>
              <a:rPr lang="en-IN" sz="1200" dirty="0"/>
              <a:t>RESTful APIs for integration</a:t>
            </a:r>
            <a:endParaRPr lang="en-IN" sz="1200" dirty="0">
              <a:latin typeface="Times New Roman" panose="02020603050405020304" pitchFamily="18" charset="0"/>
            </a:endParaRPr>
          </a:p>
        </p:txBody>
      </p:sp>
      <p:sp>
        <p:nvSpPr>
          <p:cNvPr id="6" name="Google Shape;643;p50">
            <a:extLst>
              <a:ext uri="{FF2B5EF4-FFF2-40B4-BE49-F238E27FC236}">
                <a16:creationId xmlns:a16="http://schemas.microsoft.com/office/drawing/2014/main" id="{BFD69C84-C3B9-0A23-0CE2-076F733736A9}"/>
              </a:ext>
            </a:extLst>
          </p:cNvPr>
          <p:cNvSpPr txBox="1"/>
          <p:nvPr/>
        </p:nvSpPr>
        <p:spPr>
          <a:xfrm>
            <a:off x="490077" y="3961995"/>
            <a:ext cx="4431713" cy="331725"/>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Languages &amp; Protocols:</a:t>
            </a:r>
            <a:endParaRPr sz="1800" b="1" dirty="0">
              <a:solidFill>
                <a:schemeClr val="accent2"/>
              </a:solidFill>
              <a:latin typeface="Times New Roman" panose="02020603050405020304"/>
              <a:cs typeface="Times New Roman" panose="02020603050405020304"/>
              <a:sym typeface="Times New Roman" panose="02020603050405020304"/>
            </a:endParaRPr>
          </a:p>
        </p:txBody>
      </p:sp>
      <p:pic>
        <p:nvPicPr>
          <p:cNvPr id="8" name="Picture 7">
            <a:extLst>
              <a:ext uri="{FF2B5EF4-FFF2-40B4-BE49-F238E27FC236}">
                <a16:creationId xmlns:a16="http://schemas.microsoft.com/office/drawing/2014/main" id="{2890ED7C-2C20-DF4E-7839-B59CC62E32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96396" y="312133"/>
            <a:ext cx="1012461" cy="1110099"/>
          </a:xfrm>
          <a:prstGeom prst="rect">
            <a:avLst/>
          </a:prstGeom>
        </p:spPr>
      </p:pic>
      <p:sp>
        <p:nvSpPr>
          <p:cNvPr id="3" name="Google Shape;643;p50">
            <a:extLst>
              <a:ext uri="{FF2B5EF4-FFF2-40B4-BE49-F238E27FC236}">
                <a16:creationId xmlns:a16="http://schemas.microsoft.com/office/drawing/2014/main" id="{0DA05E39-59D9-D6FD-2CE7-B77AE15514FA}"/>
              </a:ext>
            </a:extLst>
          </p:cNvPr>
          <p:cNvSpPr txBox="1"/>
          <p:nvPr/>
        </p:nvSpPr>
        <p:spPr>
          <a:xfrm>
            <a:off x="490077" y="2611409"/>
            <a:ext cx="4431713" cy="331725"/>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Storage &amp; Retrieval:</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7" name="TextBox 6">
            <a:extLst>
              <a:ext uri="{FF2B5EF4-FFF2-40B4-BE49-F238E27FC236}">
                <a16:creationId xmlns:a16="http://schemas.microsoft.com/office/drawing/2014/main" id="{9A113D9E-B4E1-466E-1E7A-6EE2681D5924}"/>
              </a:ext>
            </a:extLst>
          </p:cNvPr>
          <p:cNvSpPr txBox="1"/>
          <p:nvPr/>
        </p:nvSpPr>
        <p:spPr>
          <a:xfrm>
            <a:off x="625891" y="2906887"/>
            <a:ext cx="5059181" cy="88992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err="1"/>
              <a:t>ChromaDB</a:t>
            </a:r>
            <a:r>
              <a:rPr lang="en-IN" sz="1200" dirty="0"/>
              <a:t> / FAISS / Pinecone – Vector search for document embeddings</a:t>
            </a:r>
          </a:p>
          <a:p>
            <a:pPr marL="285750" indent="-285750">
              <a:lnSpc>
                <a:spcPct val="150000"/>
              </a:lnSpc>
              <a:buFont typeface="Arial" panose="020B0604020202020204" pitchFamily="34" charset="0"/>
              <a:buChar char="•"/>
            </a:pPr>
            <a:r>
              <a:rPr lang="en-IN" sz="1200" dirty="0"/>
              <a:t>Oracle DB – Core ERP database</a:t>
            </a:r>
            <a:endParaRPr lang="en-IN" sz="1200" dirty="0">
              <a:effectLst/>
              <a:latin typeface="Times New Roman" panose="02020603050405020304" pitchFamily="18" charset="0"/>
              <a:ea typeface="Times New Roman" panose="02020603050405020304" pitchFamily="18" charset="0"/>
            </a:endParaRPr>
          </a:p>
        </p:txBody>
      </p:sp>
      <p:pic>
        <p:nvPicPr>
          <p:cNvPr id="13" name="Picture 12">
            <a:extLst>
              <a:ext uri="{FF2B5EF4-FFF2-40B4-BE49-F238E27FC236}">
                <a16:creationId xmlns:a16="http://schemas.microsoft.com/office/drawing/2014/main" id="{035B1EB9-F32F-71C1-F3E0-FBF0DE78CF72}"/>
              </a:ext>
            </a:extLst>
          </p:cNvPr>
          <p:cNvPicPr>
            <a:picLocks noChangeAspect="1"/>
          </p:cNvPicPr>
          <p:nvPr/>
        </p:nvPicPr>
        <p:blipFill>
          <a:blip r:embed="rId4"/>
          <a:stretch>
            <a:fillRect/>
          </a:stretch>
        </p:blipFill>
        <p:spPr>
          <a:xfrm>
            <a:off x="5624203" y="1356249"/>
            <a:ext cx="1974977" cy="1974977"/>
          </a:xfrm>
          <a:prstGeom prst="rect">
            <a:avLst/>
          </a:prstGeom>
        </p:spPr>
      </p:pic>
      <p:sp>
        <p:nvSpPr>
          <p:cNvPr id="16" name="Google Shape;643;p50">
            <a:extLst>
              <a:ext uri="{FF2B5EF4-FFF2-40B4-BE49-F238E27FC236}">
                <a16:creationId xmlns:a16="http://schemas.microsoft.com/office/drawing/2014/main" id="{24EE7C76-C44D-2995-A19E-452117532365}"/>
              </a:ext>
            </a:extLst>
          </p:cNvPr>
          <p:cNvSpPr txBox="1"/>
          <p:nvPr/>
        </p:nvSpPr>
        <p:spPr>
          <a:xfrm>
            <a:off x="497017" y="1513351"/>
            <a:ext cx="7049322" cy="310660"/>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LLM &amp; AI Frameworks:</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17" name="TextBox 16">
            <a:extLst>
              <a:ext uri="{FF2B5EF4-FFF2-40B4-BE49-F238E27FC236}">
                <a16:creationId xmlns:a16="http://schemas.microsoft.com/office/drawing/2014/main" id="{E8ECA569-E364-8CE7-A5EE-5A40FD7BE634}"/>
              </a:ext>
            </a:extLst>
          </p:cNvPr>
          <p:cNvSpPr txBox="1"/>
          <p:nvPr/>
        </p:nvSpPr>
        <p:spPr>
          <a:xfrm>
            <a:off x="646938" y="1824011"/>
            <a:ext cx="5059181" cy="6121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OpenAI GPT-4 / Cohere / </a:t>
            </a:r>
            <a:r>
              <a:rPr lang="en-IN" sz="1200" dirty="0" err="1"/>
              <a:t>HuggingFace</a:t>
            </a:r>
            <a:r>
              <a:rPr lang="en-IN" sz="1200" dirty="0"/>
              <a:t> Transformers</a:t>
            </a:r>
          </a:p>
          <a:p>
            <a:pPr marL="285750" indent="-285750">
              <a:lnSpc>
                <a:spcPct val="150000"/>
              </a:lnSpc>
              <a:buFont typeface="Arial" panose="020B0604020202020204" pitchFamily="34" charset="0"/>
              <a:buChar char="•"/>
            </a:pPr>
            <a:r>
              <a:rPr lang="en-IN" sz="1200" dirty="0" err="1"/>
              <a:t>LangChain</a:t>
            </a:r>
            <a:r>
              <a:rPr lang="en-IN" sz="1200" dirty="0"/>
              <a:t> / </a:t>
            </a:r>
            <a:r>
              <a:rPr lang="en-IN" sz="1200" dirty="0" err="1"/>
              <a:t>LlamaIndex</a:t>
            </a:r>
            <a:r>
              <a:rPr lang="en-IN" sz="1200" dirty="0"/>
              <a:t> – For orchestrating the RAG</a:t>
            </a:r>
          </a:p>
        </p:txBody>
      </p:sp>
      <p:sp>
        <p:nvSpPr>
          <p:cNvPr id="19" name="TextBox 18">
            <a:extLst>
              <a:ext uri="{FF2B5EF4-FFF2-40B4-BE49-F238E27FC236}">
                <a16:creationId xmlns:a16="http://schemas.microsoft.com/office/drawing/2014/main" id="{16BD08AF-4C45-A0C7-3207-9001E7C61C03}"/>
              </a:ext>
            </a:extLst>
          </p:cNvPr>
          <p:cNvSpPr txBox="1"/>
          <p:nvPr/>
        </p:nvSpPr>
        <p:spPr>
          <a:xfrm>
            <a:off x="238387" y="119758"/>
            <a:ext cx="3152745" cy="369332"/>
          </a:xfrm>
          <a:prstGeom prst="rect">
            <a:avLst/>
          </a:prstGeom>
          <a:noFill/>
        </p:spPr>
        <p:txBody>
          <a:bodyPr wrap="square">
            <a:spAutoFit/>
          </a:bodyPr>
          <a:lstStyle/>
          <a:p>
            <a:pPr>
              <a:lnSpc>
                <a:spcPct val="90000"/>
              </a:lnSpc>
            </a:pPr>
            <a:r>
              <a:rPr lang="en-IN" sz="2000" b="1" dirty="0">
                <a:solidFill>
                  <a:schemeClr val="tx1">
                    <a:lumMod val="75000"/>
                    <a:lumOff val="25000"/>
                  </a:schemeClr>
                </a:solidFill>
                <a:latin typeface="Times New Roman" panose="02020603050405020304"/>
                <a:cs typeface="Times New Roman" panose="02020603050405020304"/>
              </a:rPr>
              <a:t>Tools &amp; Technologies Used</a:t>
            </a:r>
          </a:p>
        </p:txBody>
      </p:sp>
      <p:pic>
        <p:nvPicPr>
          <p:cNvPr id="11" name="Picture 10">
            <a:extLst>
              <a:ext uri="{FF2B5EF4-FFF2-40B4-BE49-F238E27FC236}">
                <a16:creationId xmlns:a16="http://schemas.microsoft.com/office/drawing/2014/main" id="{44E71C47-BED8-B40A-23A8-E28E26D9AAEC}"/>
              </a:ext>
            </a:extLst>
          </p:cNvPr>
          <p:cNvPicPr>
            <a:picLocks noChangeAspect="1"/>
          </p:cNvPicPr>
          <p:nvPr/>
        </p:nvPicPr>
        <p:blipFill>
          <a:blip r:embed="rId5"/>
          <a:stretch>
            <a:fillRect/>
          </a:stretch>
        </p:blipFill>
        <p:spPr>
          <a:xfrm>
            <a:off x="7796395" y="3667625"/>
            <a:ext cx="1012461" cy="1006026"/>
          </a:xfrm>
          <a:prstGeom prst="rect">
            <a:avLst/>
          </a:prstGeom>
        </p:spPr>
      </p:pic>
    </p:spTree>
    <p:extLst>
      <p:ext uri="{BB962C8B-B14F-4D97-AF65-F5344CB8AC3E}">
        <p14:creationId xmlns:p14="http://schemas.microsoft.com/office/powerpoint/2010/main" val="1610443810"/>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1F7F16E0-B015-9EA5-6790-500242ADCEB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AC5EE567-3593-BE0A-CBB6-2444F82E2CE6}"/>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10</a:t>
            </a:fld>
            <a:endParaRPr>
              <a:solidFill>
                <a:schemeClr val="dk1"/>
              </a:solidFill>
            </a:endParaRPr>
          </a:p>
        </p:txBody>
      </p:sp>
      <p:sp>
        <p:nvSpPr>
          <p:cNvPr id="860" name="Google Shape;860;p76">
            <a:extLst>
              <a:ext uri="{FF2B5EF4-FFF2-40B4-BE49-F238E27FC236}">
                <a16:creationId xmlns:a16="http://schemas.microsoft.com/office/drawing/2014/main" id="{4E8A5316-277B-26FD-6FB2-FE5D7BB4FF44}"/>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2A43E585-0B82-51EB-110C-5C41484F1295}"/>
              </a:ext>
            </a:extLst>
          </p:cNvPr>
          <p:cNvSpPr txBox="1"/>
          <p:nvPr/>
        </p:nvSpPr>
        <p:spPr>
          <a:xfrm>
            <a:off x="256634" y="12818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Literature Review</a:t>
            </a:r>
            <a:endParaRPr sz="2200" b="1" i="0" u="none" strike="noStrike" cap="none" dirty="0">
              <a:solidFill>
                <a:schemeClr val="accent2"/>
              </a:solidFill>
              <a:latin typeface="Zilla Slab SemiBold"/>
              <a:ea typeface="Zilla Slab SemiBold"/>
              <a:cs typeface="Zilla Slab SemiBold"/>
              <a:sym typeface="Zilla Slab SemiBold"/>
            </a:endParaRPr>
          </a:p>
        </p:txBody>
      </p:sp>
      <p:graphicFrame>
        <p:nvGraphicFramePr>
          <p:cNvPr id="2" name="Table 1">
            <a:extLst>
              <a:ext uri="{FF2B5EF4-FFF2-40B4-BE49-F238E27FC236}">
                <a16:creationId xmlns:a16="http://schemas.microsoft.com/office/drawing/2014/main" id="{0AEA1776-AAF0-B730-64EC-0508AB8DE1B6}"/>
              </a:ext>
            </a:extLst>
          </p:cNvPr>
          <p:cNvGraphicFramePr>
            <a:graphicFrameLocks noGrp="1"/>
          </p:cNvGraphicFramePr>
          <p:nvPr>
            <p:extLst>
              <p:ext uri="{D42A27DB-BD31-4B8C-83A1-F6EECF244321}">
                <p14:modId xmlns:p14="http://schemas.microsoft.com/office/powerpoint/2010/main" val="603976540"/>
              </p:ext>
            </p:extLst>
          </p:nvPr>
        </p:nvGraphicFramePr>
        <p:xfrm>
          <a:off x="324577" y="532327"/>
          <a:ext cx="8372693" cy="4397107"/>
        </p:xfrm>
        <a:graphic>
          <a:graphicData uri="http://schemas.openxmlformats.org/drawingml/2006/table">
            <a:tbl>
              <a:tblPr firstRow="1" firstCol="1" bandRow="1">
                <a:tableStyleId>{72833802-FEF1-4C79-8D5D-14CF1EAF98D9}</a:tableStyleId>
              </a:tblPr>
              <a:tblGrid>
                <a:gridCol w="411545">
                  <a:extLst>
                    <a:ext uri="{9D8B030D-6E8A-4147-A177-3AD203B41FA5}">
                      <a16:colId xmlns:a16="http://schemas.microsoft.com/office/drawing/2014/main" val="3286546900"/>
                    </a:ext>
                  </a:extLst>
                </a:gridCol>
                <a:gridCol w="518755">
                  <a:extLst>
                    <a:ext uri="{9D8B030D-6E8A-4147-A177-3AD203B41FA5}">
                      <a16:colId xmlns:a16="http://schemas.microsoft.com/office/drawing/2014/main" val="213655152"/>
                    </a:ext>
                  </a:extLst>
                </a:gridCol>
                <a:gridCol w="2579937">
                  <a:extLst>
                    <a:ext uri="{9D8B030D-6E8A-4147-A177-3AD203B41FA5}">
                      <a16:colId xmlns:a16="http://schemas.microsoft.com/office/drawing/2014/main" val="3260751214"/>
                    </a:ext>
                  </a:extLst>
                </a:gridCol>
                <a:gridCol w="1886053">
                  <a:extLst>
                    <a:ext uri="{9D8B030D-6E8A-4147-A177-3AD203B41FA5}">
                      <a16:colId xmlns:a16="http://schemas.microsoft.com/office/drawing/2014/main" val="1776928445"/>
                    </a:ext>
                  </a:extLst>
                </a:gridCol>
                <a:gridCol w="2976403">
                  <a:extLst>
                    <a:ext uri="{9D8B030D-6E8A-4147-A177-3AD203B41FA5}">
                      <a16:colId xmlns:a16="http://schemas.microsoft.com/office/drawing/2014/main" val="758750201"/>
                    </a:ext>
                  </a:extLst>
                </a:gridCol>
              </a:tblGrid>
              <a:tr h="313431">
                <a:tc>
                  <a:txBody>
                    <a:bodyPr/>
                    <a:lstStyle/>
                    <a:p>
                      <a:pPr algn="ctr">
                        <a:lnSpc>
                          <a:spcPct val="107000"/>
                        </a:lnSpc>
                        <a:spcAft>
                          <a:spcPts val="800"/>
                        </a:spcAft>
                        <a:buNone/>
                      </a:pPr>
                      <a:r>
                        <a:rPr lang="en-IN" sz="800" kern="100" dirty="0">
                          <a:effectLst/>
                        </a:rPr>
                        <a:t>Sno</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Year</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Title of the Paper</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Author &amp; Publication Details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Inference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5136006"/>
                  </a:ext>
                </a:extLst>
              </a:tr>
              <a:tr h="608081">
                <a:tc>
                  <a:txBody>
                    <a:bodyPr/>
                    <a:lstStyle/>
                    <a:p>
                      <a:pPr algn="ctr">
                        <a:lnSpc>
                          <a:spcPct val="107000"/>
                        </a:lnSpc>
                        <a:spcAft>
                          <a:spcPts val="800"/>
                        </a:spcAft>
                        <a:buNone/>
                      </a:pPr>
                      <a:r>
                        <a:rPr lang="en-IN" sz="800" kern="100" dirty="0">
                          <a:effectLst/>
                        </a:rPr>
                        <a:t>1</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RAGVA: Engineering Retrieval-Augmented Generation–based Virtual Assistants in Practice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R. Yang et al. (</a:t>
                      </a:r>
                      <a:r>
                        <a:rPr lang="en-IN" sz="800" kern="100" dirty="0" err="1">
                          <a:effectLst/>
                        </a:rPr>
                        <a:t>arXiv</a:t>
                      </a:r>
                      <a:r>
                        <a:rPr lang="en-IN" sz="800" kern="100" dirty="0">
                          <a:effectLst/>
                        </a:rPr>
                        <a:t> / IEEE-indexed workshops)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Provides engineering practices for implementing RAG-based conversational assistants. Advantage: Practical blueprint for RAG integration. Limitation: More experimental, not yet widely deployed in enterprise low-code platforms.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1807402"/>
                  </a:ext>
                </a:extLst>
              </a:tr>
              <a:tr h="608081">
                <a:tc>
                  <a:txBody>
                    <a:bodyPr/>
                    <a:lstStyle/>
                    <a:p>
                      <a:pPr algn="ctr">
                        <a:lnSpc>
                          <a:spcPct val="107000"/>
                        </a:lnSpc>
                        <a:spcAft>
                          <a:spcPts val="800"/>
                        </a:spcAft>
                        <a:buNone/>
                      </a:pPr>
                      <a:r>
                        <a:rPr lang="en-IN" sz="800" kern="100" dirty="0">
                          <a:effectLst/>
                        </a:rPr>
                        <a:t>2</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Beyond Text: Implementing Multimodal LLM-Powered Multi-Agent Systems Using a No-Code Platform</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b="0" i="0" u="none" strike="noStrike" kern="100" cap="none" dirty="0" err="1">
                          <a:solidFill>
                            <a:schemeClr val="tx1"/>
                          </a:solidFill>
                          <a:effectLst/>
                          <a:latin typeface="+mn-lt"/>
                          <a:ea typeface="+mn-ea"/>
                          <a:cs typeface="+mn-cs"/>
                          <a:sym typeface="Arial" panose="020B0604020202020204"/>
                        </a:rPr>
                        <a:t>Cheonsu</a:t>
                      </a:r>
                      <a:r>
                        <a:rPr lang="en-IN" sz="800" b="0" i="0" u="none" strike="noStrike" kern="100" cap="none" dirty="0">
                          <a:solidFill>
                            <a:schemeClr val="tx1"/>
                          </a:solidFill>
                          <a:effectLst/>
                          <a:latin typeface="+mn-lt"/>
                          <a:ea typeface="+mn-ea"/>
                          <a:cs typeface="+mn-cs"/>
                          <a:sym typeface="Arial" panose="020B0604020202020204"/>
                        </a:rPr>
                        <a:t> </a:t>
                      </a:r>
                      <a:r>
                        <a:rPr lang="en-IN" sz="800" kern="100" dirty="0">
                          <a:effectLst/>
                        </a:rPr>
                        <a:t> Jeong </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a no-code platform for building multi-agent conversational systems with RAG. Advantage: Demonstrates multimodal conversational AI in low-code setting. Limitation: Early-stage work; scalability in enterprise settings untested.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4737215"/>
                  </a:ext>
                </a:extLst>
              </a:tr>
              <a:tr h="695088">
                <a:tc>
                  <a:txBody>
                    <a:bodyPr/>
                    <a:lstStyle/>
                    <a:p>
                      <a:pPr algn="ctr">
                        <a:lnSpc>
                          <a:spcPct val="107000"/>
                        </a:lnSpc>
                        <a:spcAft>
                          <a:spcPts val="800"/>
                        </a:spcAft>
                        <a:buNone/>
                      </a:pPr>
                      <a:r>
                        <a:rPr lang="en-IN" sz="800" kern="100" dirty="0">
                          <a:effectLst/>
                        </a:rPr>
                        <a:t>3</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ctr"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sym typeface="Arial" panose="020B0604020202020204"/>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Low-Code RAG-LLM Framework for Context-Aware Querying in Electrical Standards, Design, and Research</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Soham Ghosh &amp; Gaurav Mittal (preprint on Preprints.org) </a:t>
                      </a:r>
                      <a:r>
                        <a:rPr lang="en-IN" sz="800" b="0" i="0" u="none" strike="noStrike" kern="100" cap="none" dirty="0">
                          <a:solidFill>
                            <a:schemeClr val="tx1"/>
                          </a:solidFill>
                          <a:effectLst/>
                          <a:latin typeface="+mn-lt"/>
                          <a:ea typeface="+mn-ea"/>
                          <a:cs typeface="+mn-cs"/>
                          <a:sym typeface="Arial" panose="020B0604020202020204"/>
                          <a:hlinkClick r:id="rId3">
                            <a:extLst>
                              <a:ext uri="{A12FA001-AC4F-418D-AE19-62706E023703}">
                                <ahyp:hlinkClr xmlns:ahyp="http://schemas.microsoft.com/office/drawing/2018/hyperlinkcolor" val="tx"/>
                              </a:ext>
                            </a:extLst>
                          </a:hlinkClick>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just"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Introduces a low-code RAG-LLM pipeline built using N8N, tailored for domain-specific querying; modular, supports reranking, contextual retrieval, knowledge-graph augmentation; evaluated on NFPA, IEEE Xplore documents </a:t>
                      </a:r>
                      <a:r>
                        <a:rPr lang="en-IN" sz="800" b="0" i="0" u="none" strike="noStrike" kern="100" cap="none" dirty="0">
                          <a:solidFill>
                            <a:schemeClr val="tx1"/>
                          </a:solidFill>
                          <a:effectLst/>
                          <a:latin typeface="+mn-lt"/>
                          <a:ea typeface="+mn-ea"/>
                          <a:cs typeface="+mn-cs"/>
                          <a:sym typeface="Arial" panose="020B0604020202020204"/>
                          <a:hlinkClick r:id="rId3">
                            <a:extLst>
                              <a:ext uri="{A12FA001-AC4F-418D-AE19-62706E023703}">
                                <ahyp:hlinkClr xmlns:ahyp="http://schemas.microsoft.com/office/drawing/2018/hyperlinkcolor" val="tx"/>
                              </a:ext>
                            </a:extLst>
                          </a:hlinkClick>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5423339"/>
                  </a:ext>
                </a:extLst>
              </a:tr>
              <a:tr h="668134">
                <a:tc>
                  <a:txBody>
                    <a:bodyPr/>
                    <a:lstStyle/>
                    <a:p>
                      <a:pPr algn="ctr">
                        <a:lnSpc>
                          <a:spcPct val="107000"/>
                        </a:lnSpc>
                        <a:spcAft>
                          <a:spcPts val="800"/>
                        </a:spcAft>
                        <a:buNone/>
                      </a:pPr>
                      <a:r>
                        <a:rPr lang="en-IN" sz="800" kern="100" dirty="0">
                          <a:effectLst/>
                        </a:rPr>
                        <a:t>4</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Generating a Low-Code Workflow via Task Decomposition and RAG</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O. Marquez Ayala &amp; P. </a:t>
                      </a:r>
                      <a:r>
                        <a:rPr lang="en-IN" sz="800" kern="100" dirty="0" err="1">
                          <a:effectLst/>
                        </a:rPr>
                        <a:t>Béchard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Introduces Task Decomposition + RAG as design patterns for enterprise workflows. Advantage: Connects low-code principles with RAG-based automation. Limitation: Conceptual framework; lacks industrial case studies.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651449"/>
                  </a:ext>
                </a:extLst>
              </a:tr>
              <a:tr h="697854">
                <a:tc>
                  <a:txBody>
                    <a:bodyPr/>
                    <a:lstStyle/>
                    <a:p>
                      <a:pPr algn="ctr">
                        <a:lnSpc>
                          <a:spcPct val="107000"/>
                        </a:lnSpc>
                        <a:spcAft>
                          <a:spcPts val="800"/>
                        </a:spcAft>
                        <a:buNone/>
                      </a:pPr>
                      <a:r>
                        <a:rPr lang="en-IN" sz="800" kern="100" dirty="0">
                          <a:effectLst/>
                        </a:rPr>
                        <a:t>5</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White-box LLM-supported Low-code Engineering: A Vision and First Insights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Y. Cai, Z. Xing, et al. (ACM/IEEE MODELS Companion)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how LLMs can be integrated into low-code platforms for model-driven engineering. Advantage: Provides first architectural insights into combining low-code and LLM. Limitation: Still conceptual, lacks large-scale empirical validation.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0612881"/>
                  </a:ext>
                </a:extLst>
              </a:tr>
              <a:tr h="728211">
                <a:tc>
                  <a:txBody>
                    <a:bodyPr/>
                    <a:lstStyle/>
                    <a:p>
                      <a:pPr algn="ctr">
                        <a:lnSpc>
                          <a:spcPct val="107000"/>
                        </a:lnSpc>
                        <a:spcAft>
                          <a:spcPts val="800"/>
                        </a:spcAft>
                        <a:buNone/>
                      </a:pPr>
                      <a:r>
                        <a:rPr lang="en-IN" sz="800" kern="100" dirty="0">
                          <a:effectLst/>
                        </a:rPr>
                        <a:t>6</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The Next Frontier in Software Development: AI-Augmented Software Development Processes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IEEE Software Editorial Board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Argues LLMs can accelerate no-code/low-code development by automating repetitive tasks. Advantage: Establishes LLMs as co-developers. Limitation: Discusses opportunities broadly, without specific RAG or conversational AI focus.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1087582"/>
                  </a:ext>
                </a:extLst>
              </a:tr>
            </a:tbl>
          </a:graphicData>
        </a:graphic>
      </p:graphicFrame>
    </p:spTree>
    <p:extLst>
      <p:ext uri="{BB962C8B-B14F-4D97-AF65-F5344CB8AC3E}">
        <p14:creationId xmlns:p14="http://schemas.microsoft.com/office/powerpoint/2010/main" val="1197328252"/>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CBB93395-35DC-8506-C124-5E52FC58A22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262F4A20-F451-DCD6-DB8B-9E7BCF10114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11</a:t>
            </a:fld>
            <a:endParaRPr>
              <a:solidFill>
                <a:schemeClr val="dk1"/>
              </a:solidFill>
            </a:endParaRPr>
          </a:p>
        </p:txBody>
      </p:sp>
      <p:sp>
        <p:nvSpPr>
          <p:cNvPr id="860" name="Google Shape;860;p76">
            <a:extLst>
              <a:ext uri="{FF2B5EF4-FFF2-40B4-BE49-F238E27FC236}">
                <a16:creationId xmlns:a16="http://schemas.microsoft.com/office/drawing/2014/main" id="{230666F3-F12E-91C5-6DA7-FD9F97F7D54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30CBA110-1658-CC77-A229-2F074F603A71}"/>
              </a:ext>
            </a:extLst>
          </p:cNvPr>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Challenges</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999ACFDB-6BCD-D661-8570-8DA2BB596ABE}"/>
              </a:ext>
            </a:extLst>
          </p:cNvPr>
          <p:cNvSpPr txBox="1"/>
          <p:nvPr/>
        </p:nvSpPr>
        <p:spPr>
          <a:xfrm>
            <a:off x="445098" y="970303"/>
            <a:ext cx="8187932" cy="3284041"/>
          </a:xfrm>
          <a:prstGeom prst="rect">
            <a:avLst/>
          </a:prstGeom>
          <a:noFill/>
        </p:spPr>
        <p:txBody>
          <a:bodyPr wrap="square">
            <a:spAutoFit/>
          </a:bodyPr>
          <a:lstStyle/>
          <a:p>
            <a:pPr>
              <a:lnSpc>
                <a:spcPct val="150000"/>
              </a:lnSpc>
            </a:pPr>
            <a:r>
              <a:rPr lang="en-US" b="1" dirty="0"/>
              <a:t>Technical Challenges:</a:t>
            </a:r>
            <a:endParaRPr lang="en-US" dirty="0"/>
          </a:p>
          <a:p>
            <a:pPr marL="355600" indent="-174625">
              <a:lnSpc>
                <a:spcPct val="150000"/>
              </a:lnSpc>
              <a:buFont typeface="Arial" panose="020B0604020202020204" pitchFamily="34" charset="0"/>
              <a:buChar char="•"/>
            </a:pPr>
            <a:r>
              <a:rPr lang="en-US" dirty="0"/>
              <a:t>Managing latency during real-time vector retrieval and LLM inference.</a:t>
            </a:r>
          </a:p>
          <a:p>
            <a:pPr marL="355600" indent="-174625">
              <a:lnSpc>
                <a:spcPct val="150000"/>
              </a:lnSpc>
              <a:buFont typeface="Arial" panose="020B0604020202020204" pitchFamily="34" charset="0"/>
              <a:buChar char="•"/>
            </a:pPr>
            <a:r>
              <a:rPr lang="en-US" dirty="0"/>
              <a:t>Token limitations of LLMs when processing large documents.</a:t>
            </a:r>
          </a:p>
          <a:p>
            <a:pPr>
              <a:lnSpc>
                <a:spcPct val="150000"/>
              </a:lnSpc>
            </a:pPr>
            <a:r>
              <a:rPr lang="en-US" b="1" dirty="0"/>
              <a:t>Security Concerns:</a:t>
            </a:r>
            <a:endParaRPr lang="en-US" dirty="0"/>
          </a:p>
          <a:p>
            <a:pPr marL="355600" indent="-174625">
              <a:lnSpc>
                <a:spcPct val="150000"/>
              </a:lnSpc>
              <a:buFont typeface="Arial" panose="020B0604020202020204" pitchFamily="34" charset="0"/>
              <a:buChar char="•"/>
            </a:pPr>
            <a:r>
              <a:rPr lang="en-US" dirty="0"/>
              <a:t>Ensuring sensitive ERP data is protected in transmission and inference.</a:t>
            </a:r>
          </a:p>
          <a:p>
            <a:pPr marL="355600" indent="-174625">
              <a:lnSpc>
                <a:spcPct val="150000"/>
              </a:lnSpc>
              <a:buFont typeface="Arial" panose="020B0604020202020204" pitchFamily="34" charset="0"/>
              <a:buChar char="•"/>
            </a:pPr>
            <a:r>
              <a:rPr lang="en-US" dirty="0"/>
              <a:t>Implementing user access controls at the assistant level.</a:t>
            </a:r>
          </a:p>
          <a:p>
            <a:pPr>
              <a:lnSpc>
                <a:spcPct val="150000"/>
              </a:lnSpc>
            </a:pPr>
            <a:r>
              <a:rPr lang="en-US" b="1" dirty="0"/>
              <a:t>Functional Challenges:</a:t>
            </a:r>
            <a:endParaRPr lang="en-US" dirty="0"/>
          </a:p>
          <a:p>
            <a:pPr marL="355600" indent="-174625">
              <a:lnSpc>
                <a:spcPct val="150000"/>
              </a:lnSpc>
              <a:buFont typeface="Arial" panose="020B0604020202020204" pitchFamily="34" charset="0"/>
              <a:buChar char="•"/>
              <a:tabLst>
                <a:tab pos="355600" algn="l"/>
              </a:tabLst>
            </a:pPr>
            <a:r>
              <a:rPr lang="en-US" dirty="0"/>
              <a:t>Understanding ambiguous queries.</a:t>
            </a:r>
          </a:p>
          <a:p>
            <a:pPr marL="355600" indent="-174625">
              <a:lnSpc>
                <a:spcPct val="150000"/>
              </a:lnSpc>
              <a:buFont typeface="Arial" panose="020B0604020202020204" pitchFamily="34" charset="0"/>
              <a:buChar char="•"/>
              <a:tabLst>
                <a:tab pos="355600" algn="l"/>
              </a:tabLst>
            </a:pPr>
            <a:r>
              <a:rPr lang="en-US" dirty="0"/>
              <a:t>Training users to effectively use conversational ERP.</a:t>
            </a:r>
          </a:p>
          <a:p>
            <a:pPr marL="466725" marR="362585" indent="-196850" algn="just">
              <a:lnSpc>
                <a:spcPct val="150000"/>
              </a:lnSpc>
              <a:buFont typeface="Arial" panose="020B0604020202020204" pitchFamily="34" charset="0"/>
              <a:buChar char="•"/>
            </a:pPr>
            <a:endParaRPr lang="en-IN" dirty="0"/>
          </a:p>
        </p:txBody>
      </p:sp>
    </p:spTree>
    <p:extLst>
      <p:ext uri="{BB962C8B-B14F-4D97-AF65-F5344CB8AC3E}">
        <p14:creationId xmlns:p14="http://schemas.microsoft.com/office/powerpoint/2010/main" val="3184085303"/>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CBB93395-35DC-8506-C124-5E52FC58A22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262F4A20-F451-DCD6-DB8B-9E7BCF10114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12</a:t>
            </a:fld>
            <a:endParaRPr>
              <a:solidFill>
                <a:schemeClr val="dk1"/>
              </a:solidFill>
            </a:endParaRPr>
          </a:p>
        </p:txBody>
      </p:sp>
      <p:sp>
        <p:nvSpPr>
          <p:cNvPr id="860" name="Google Shape;860;p76">
            <a:extLst>
              <a:ext uri="{FF2B5EF4-FFF2-40B4-BE49-F238E27FC236}">
                <a16:creationId xmlns:a16="http://schemas.microsoft.com/office/drawing/2014/main" id="{230666F3-F12E-91C5-6DA7-FD9F97F7D54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30CBA110-1658-CC77-A229-2F074F603A71}"/>
              </a:ext>
            </a:extLst>
          </p:cNvPr>
          <p:cNvSpPr txBox="1"/>
          <p:nvPr/>
        </p:nvSpPr>
        <p:spPr>
          <a:xfrm>
            <a:off x="424157" y="342573"/>
            <a:ext cx="7755823"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4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Phase 1 – UI Design and Architecture </a:t>
            </a:r>
            <a:endParaRPr sz="24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999ACFDB-6BCD-D661-8570-8DA2BB596ABE}"/>
              </a:ext>
            </a:extLst>
          </p:cNvPr>
          <p:cNvSpPr txBox="1"/>
          <p:nvPr/>
        </p:nvSpPr>
        <p:spPr>
          <a:xfrm>
            <a:off x="424157" y="621987"/>
            <a:ext cx="8187932" cy="4115037"/>
          </a:xfrm>
          <a:prstGeom prst="rect">
            <a:avLst/>
          </a:prstGeom>
          <a:noFill/>
        </p:spPr>
        <p:txBody>
          <a:bodyPr wrap="square">
            <a:spAutoFit/>
          </a:bodyPr>
          <a:lstStyle/>
          <a:p>
            <a:pPr>
              <a:lnSpc>
                <a:spcPct val="150000"/>
              </a:lnSpc>
            </a:pPr>
            <a:r>
              <a:rPr lang="en-US" b="1" dirty="0"/>
              <a:t>Objective:</a:t>
            </a:r>
            <a:br>
              <a:rPr lang="en-US" dirty="0"/>
            </a:br>
            <a:r>
              <a:rPr lang="en-US" dirty="0"/>
              <a:t> Design and finalize the system’s frontend interface, architecture, and technology stack, including selection of the LLM and supporting components.</a:t>
            </a:r>
          </a:p>
          <a:p>
            <a:pPr>
              <a:lnSpc>
                <a:spcPct val="150000"/>
              </a:lnSpc>
            </a:pPr>
            <a:endParaRPr lang="en-US" dirty="0"/>
          </a:p>
          <a:p>
            <a:r>
              <a:rPr lang="en-IN" b="1" u="sng" dirty="0"/>
              <a:t>Key Activities:</a:t>
            </a:r>
          </a:p>
          <a:p>
            <a:endParaRPr lang="en-US" b="1" u="sng" dirty="0"/>
          </a:p>
          <a:p>
            <a:pPr lvl="2"/>
            <a:r>
              <a:rPr lang="en-IN" sz="1300" b="1" dirty="0"/>
              <a:t>UI/UX Design:</a:t>
            </a:r>
            <a:endParaRPr lang="en-IN" sz="1300" dirty="0"/>
          </a:p>
          <a:p>
            <a:pPr marL="361950" lvl="3" indent="-185738">
              <a:lnSpc>
                <a:spcPct val="150000"/>
              </a:lnSpc>
              <a:buFont typeface="Arial" panose="020B0604020202020204" pitchFamily="34" charset="0"/>
              <a:buChar char="•"/>
            </a:pPr>
            <a:r>
              <a:rPr lang="en-US" altLang="en-US" dirty="0"/>
              <a:t>Designed user-friendly and interactive chat interface</a:t>
            </a:r>
          </a:p>
          <a:p>
            <a:pPr marL="361950" lvl="3" indent="-185738">
              <a:lnSpc>
                <a:spcPct val="150000"/>
              </a:lnSpc>
              <a:buFont typeface="Arial" panose="020B0604020202020204" pitchFamily="34" charset="0"/>
              <a:buChar char="•"/>
            </a:pPr>
            <a:r>
              <a:rPr lang="en-US" altLang="en-US" dirty="0"/>
              <a:t>Selected frameworks, tools, and infrastructure for implementation </a:t>
            </a:r>
            <a:endParaRPr lang="en-IN" dirty="0"/>
          </a:p>
          <a:p>
            <a:pPr lvl="2"/>
            <a:r>
              <a:rPr lang="en-IN" sz="1300" b="1" dirty="0"/>
              <a:t>Architecture:</a:t>
            </a:r>
            <a:endParaRPr lang="en-IN" sz="1300" dirty="0"/>
          </a:p>
          <a:p>
            <a:pPr marL="361950" lvl="3" indent="-185738">
              <a:lnSpc>
                <a:spcPct val="150000"/>
              </a:lnSpc>
              <a:buFont typeface="Arial" panose="020B0604020202020204" pitchFamily="34" charset="0"/>
              <a:buChar char="•"/>
            </a:pPr>
            <a:r>
              <a:rPr lang="en-US" altLang="en-US" dirty="0"/>
              <a:t>Identified supporting technologies (e.g., vector DB, APIs, frameworks)</a:t>
            </a:r>
          </a:p>
          <a:p>
            <a:pPr marL="361950" lvl="3" indent="-185738">
              <a:lnSpc>
                <a:spcPct val="150000"/>
              </a:lnSpc>
              <a:buFont typeface="Arial" panose="020B0604020202020204" pitchFamily="34" charset="0"/>
              <a:buChar char="•"/>
            </a:pPr>
            <a:r>
              <a:rPr lang="en-US" altLang="en-US" dirty="0"/>
              <a:t>Defined approach for Retrieval-Augmented Generation (RAG) integration</a:t>
            </a:r>
          </a:p>
          <a:p>
            <a:pPr marL="361950" lvl="3" indent="-185738">
              <a:lnSpc>
                <a:spcPct val="150000"/>
              </a:lnSpc>
              <a:buFont typeface="Arial" panose="020B0604020202020204" pitchFamily="34" charset="0"/>
              <a:buChar char="•"/>
            </a:pPr>
            <a:r>
              <a:rPr lang="en-US" dirty="0"/>
              <a:t>Finalized the LLM Model</a:t>
            </a:r>
          </a:p>
          <a:p>
            <a:pPr marL="361950" lvl="3" indent="-185738">
              <a:lnSpc>
                <a:spcPct val="150000"/>
              </a:lnSpc>
              <a:buFont typeface="Arial" panose="020B0604020202020204" pitchFamily="34" charset="0"/>
              <a:buChar char="•"/>
            </a:pPr>
            <a:r>
              <a:rPr lang="en-US" dirty="0"/>
              <a:t>Finalized the Roadmap for the backend and integration work.</a:t>
            </a:r>
          </a:p>
        </p:txBody>
      </p:sp>
    </p:spTree>
    <p:extLst>
      <p:ext uri="{BB962C8B-B14F-4D97-AF65-F5344CB8AC3E}">
        <p14:creationId xmlns:p14="http://schemas.microsoft.com/office/powerpoint/2010/main" val="1715761693"/>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CBB93395-35DC-8506-C124-5E52FC58A22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262F4A20-F451-DCD6-DB8B-9E7BCF10114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13</a:t>
            </a:fld>
            <a:endParaRPr>
              <a:solidFill>
                <a:schemeClr val="dk1"/>
              </a:solidFill>
            </a:endParaRPr>
          </a:p>
        </p:txBody>
      </p:sp>
      <p:sp>
        <p:nvSpPr>
          <p:cNvPr id="860" name="Google Shape;860;p76">
            <a:extLst>
              <a:ext uri="{FF2B5EF4-FFF2-40B4-BE49-F238E27FC236}">
                <a16:creationId xmlns:a16="http://schemas.microsoft.com/office/drawing/2014/main" id="{230666F3-F12E-91C5-6DA7-FD9F97F7D54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a:extLst>
              <a:ext uri="{FF2B5EF4-FFF2-40B4-BE49-F238E27FC236}">
                <a16:creationId xmlns:a16="http://schemas.microsoft.com/office/drawing/2014/main" id="{25F651E1-AE96-4225-9022-1BFB875ECB77}"/>
              </a:ext>
            </a:extLst>
          </p:cNvPr>
          <p:cNvPicPr>
            <a:picLocks noChangeAspect="1"/>
          </p:cNvPicPr>
          <p:nvPr/>
        </p:nvPicPr>
        <p:blipFill>
          <a:blip r:embed="rId3"/>
          <a:stretch>
            <a:fillRect/>
          </a:stretch>
        </p:blipFill>
        <p:spPr>
          <a:xfrm>
            <a:off x="2477729" y="326997"/>
            <a:ext cx="3590014" cy="4203098"/>
          </a:xfrm>
          <a:prstGeom prst="rect">
            <a:avLst/>
          </a:prstGeom>
          <a:ln>
            <a:solidFill>
              <a:schemeClr val="tx1"/>
            </a:solidFill>
          </a:ln>
        </p:spPr>
      </p:pic>
      <p:sp>
        <p:nvSpPr>
          <p:cNvPr id="4" name="Rectangle 3">
            <a:extLst>
              <a:ext uri="{FF2B5EF4-FFF2-40B4-BE49-F238E27FC236}">
                <a16:creationId xmlns:a16="http://schemas.microsoft.com/office/drawing/2014/main" id="{C2ED6ABB-39FE-4507-BCAE-4A6EB8FFB711}"/>
              </a:ext>
            </a:extLst>
          </p:cNvPr>
          <p:cNvSpPr/>
          <p:nvPr/>
        </p:nvSpPr>
        <p:spPr>
          <a:xfrm>
            <a:off x="3833805" y="4562674"/>
            <a:ext cx="1067921" cy="261610"/>
          </a:xfrm>
          <a:prstGeom prst="rect">
            <a:avLst/>
          </a:prstGeom>
        </p:spPr>
        <p:txBody>
          <a:bodyPr wrap="none">
            <a:spAutoFit/>
          </a:bodyPr>
          <a:lstStyle/>
          <a:p>
            <a:r>
              <a:rPr lang="en-US" sz="1100" i="1" dirty="0"/>
              <a:t>Chat Interface</a:t>
            </a:r>
            <a:endParaRPr lang="en-IN" sz="1100" i="1" dirty="0"/>
          </a:p>
        </p:txBody>
      </p:sp>
    </p:spTree>
    <p:extLst>
      <p:ext uri="{BB962C8B-B14F-4D97-AF65-F5344CB8AC3E}">
        <p14:creationId xmlns:p14="http://schemas.microsoft.com/office/powerpoint/2010/main" val="89945423"/>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CBB93395-35DC-8506-C124-5E52FC58A22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262F4A20-F451-DCD6-DB8B-9E7BCF10114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14</a:t>
            </a:fld>
            <a:endParaRPr>
              <a:solidFill>
                <a:schemeClr val="dk1"/>
              </a:solidFill>
            </a:endParaRPr>
          </a:p>
        </p:txBody>
      </p:sp>
      <p:sp>
        <p:nvSpPr>
          <p:cNvPr id="860" name="Google Shape;860;p76">
            <a:extLst>
              <a:ext uri="{FF2B5EF4-FFF2-40B4-BE49-F238E27FC236}">
                <a16:creationId xmlns:a16="http://schemas.microsoft.com/office/drawing/2014/main" id="{230666F3-F12E-91C5-6DA7-FD9F97F7D54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Rectangle 3">
            <a:extLst>
              <a:ext uri="{FF2B5EF4-FFF2-40B4-BE49-F238E27FC236}">
                <a16:creationId xmlns:a16="http://schemas.microsoft.com/office/drawing/2014/main" id="{C2ED6ABB-39FE-4507-BCAE-4A6EB8FFB711}"/>
              </a:ext>
            </a:extLst>
          </p:cNvPr>
          <p:cNvSpPr/>
          <p:nvPr/>
        </p:nvSpPr>
        <p:spPr>
          <a:xfrm>
            <a:off x="3767437" y="4364684"/>
            <a:ext cx="1306768" cy="261610"/>
          </a:xfrm>
          <a:prstGeom prst="rect">
            <a:avLst/>
          </a:prstGeom>
        </p:spPr>
        <p:txBody>
          <a:bodyPr wrap="none">
            <a:spAutoFit/>
          </a:bodyPr>
          <a:lstStyle/>
          <a:p>
            <a:r>
              <a:rPr lang="en-US" sz="1100" i="1" dirty="0"/>
              <a:t>RAG Config Page</a:t>
            </a:r>
            <a:endParaRPr lang="en-IN" sz="1100" i="1" dirty="0"/>
          </a:p>
        </p:txBody>
      </p:sp>
      <p:pic>
        <p:nvPicPr>
          <p:cNvPr id="3" name="Picture 2">
            <a:extLst>
              <a:ext uri="{FF2B5EF4-FFF2-40B4-BE49-F238E27FC236}">
                <a16:creationId xmlns:a16="http://schemas.microsoft.com/office/drawing/2014/main" id="{227A10AC-7418-4EFE-9A55-6DD9C3F97A9A}"/>
              </a:ext>
            </a:extLst>
          </p:cNvPr>
          <p:cNvPicPr>
            <a:picLocks noChangeAspect="1"/>
          </p:cNvPicPr>
          <p:nvPr/>
        </p:nvPicPr>
        <p:blipFill rotWithShape="1">
          <a:blip r:embed="rId3"/>
          <a:srcRect r="1371"/>
          <a:stretch/>
        </p:blipFill>
        <p:spPr>
          <a:xfrm>
            <a:off x="204632" y="874559"/>
            <a:ext cx="8748452" cy="3394381"/>
          </a:xfrm>
          <a:prstGeom prst="rect">
            <a:avLst/>
          </a:prstGeom>
          <a:ln>
            <a:solidFill>
              <a:schemeClr val="tx1"/>
            </a:solidFill>
          </a:ln>
        </p:spPr>
      </p:pic>
    </p:spTree>
    <p:extLst>
      <p:ext uri="{BB962C8B-B14F-4D97-AF65-F5344CB8AC3E}">
        <p14:creationId xmlns:p14="http://schemas.microsoft.com/office/powerpoint/2010/main" val="3516908862"/>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CBB93395-35DC-8506-C124-5E52FC58A22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262F4A20-F451-DCD6-DB8B-9E7BCF10114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15</a:t>
            </a:fld>
            <a:endParaRPr dirty="0">
              <a:solidFill>
                <a:schemeClr val="dk1"/>
              </a:solidFill>
            </a:endParaRPr>
          </a:p>
        </p:txBody>
      </p:sp>
      <p:sp>
        <p:nvSpPr>
          <p:cNvPr id="4" name="Rectangle 3">
            <a:extLst>
              <a:ext uri="{FF2B5EF4-FFF2-40B4-BE49-F238E27FC236}">
                <a16:creationId xmlns:a16="http://schemas.microsoft.com/office/drawing/2014/main" id="{C2ED6ABB-39FE-4507-BCAE-4A6EB8FFB711}"/>
              </a:ext>
            </a:extLst>
          </p:cNvPr>
          <p:cNvSpPr/>
          <p:nvPr/>
        </p:nvSpPr>
        <p:spPr>
          <a:xfrm>
            <a:off x="3560960" y="4349936"/>
            <a:ext cx="1832553" cy="261610"/>
          </a:xfrm>
          <a:prstGeom prst="rect">
            <a:avLst/>
          </a:prstGeom>
        </p:spPr>
        <p:txBody>
          <a:bodyPr wrap="none">
            <a:spAutoFit/>
          </a:bodyPr>
          <a:lstStyle/>
          <a:p>
            <a:r>
              <a:rPr lang="en-US" sz="1100" i="1" dirty="0"/>
              <a:t>RAG Source Upload Page</a:t>
            </a:r>
            <a:endParaRPr lang="en-IN" sz="1100" i="1" dirty="0"/>
          </a:p>
        </p:txBody>
      </p:sp>
      <p:pic>
        <p:nvPicPr>
          <p:cNvPr id="2" name="Picture 1">
            <a:extLst>
              <a:ext uri="{FF2B5EF4-FFF2-40B4-BE49-F238E27FC236}">
                <a16:creationId xmlns:a16="http://schemas.microsoft.com/office/drawing/2014/main" id="{D896C10E-4756-49FA-AD88-ADF5CA64C464}"/>
              </a:ext>
            </a:extLst>
          </p:cNvPr>
          <p:cNvPicPr>
            <a:picLocks noChangeAspect="1"/>
          </p:cNvPicPr>
          <p:nvPr/>
        </p:nvPicPr>
        <p:blipFill>
          <a:blip r:embed="rId3"/>
          <a:stretch>
            <a:fillRect/>
          </a:stretch>
        </p:blipFill>
        <p:spPr>
          <a:xfrm>
            <a:off x="1461223" y="443464"/>
            <a:ext cx="5919196" cy="3847478"/>
          </a:xfrm>
          <a:prstGeom prst="rect">
            <a:avLst/>
          </a:prstGeom>
          <a:ln>
            <a:solidFill>
              <a:schemeClr val="tx1"/>
            </a:solidFill>
          </a:ln>
        </p:spPr>
      </p:pic>
    </p:spTree>
    <p:extLst>
      <p:ext uri="{BB962C8B-B14F-4D97-AF65-F5344CB8AC3E}">
        <p14:creationId xmlns:p14="http://schemas.microsoft.com/office/powerpoint/2010/main" val="1378428869"/>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CBB93395-35DC-8506-C124-5E52FC58A22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262F4A20-F451-DCD6-DB8B-9E7BCF10114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16</a:t>
            </a:fld>
            <a:endParaRPr>
              <a:solidFill>
                <a:schemeClr val="dk1"/>
              </a:solidFill>
            </a:endParaRPr>
          </a:p>
        </p:txBody>
      </p:sp>
      <p:sp>
        <p:nvSpPr>
          <p:cNvPr id="860" name="Google Shape;860;p76">
            <a:extLst>
              <a:ext uri="{FF2B5EF4-FFF2-40B4-BE49-F238E27FC236}">
                <a16:creationId xmlns:a16="http://schemas.microsoft.com/office/drawing/2014/main" id="{230666F3-F12E-91C5-6DA7-FD9F97F7D54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30CBA110-1658-CC77-A229-2F074F603A71}"/>
              </a:ext>
            </a:extLst>
          </p:cNvPr>
          <p:cNvSpPr txBox="1"/>
          <p:nvPr/>
        </p:nvSpPr>
        <p:spPr>
          <a:xfrm>
            <a:off x="424157" y="342573"/>
            <a:ext cx="7755823"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4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Phase 2 – Backend Development &amp; Integration</a:t>
            </a:r>
            <a:endParaRPr sz="24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999ACFDB-6BCD-D661-8570-8DA2BB596ABE}"/>
              </a:ext>
            </a:extLst>
          </p:cNvPr>
          <p:cNvSpPr txBox="1"/>
          <p:nvPr/>
        </p:nvSpPr>
        <p:spPr>
          <a:xfrm>
            <a:off x="424157" y="717849"/>
            <a:ext cx="8187932" cy="4078039"/>
          </a:xfrm>
          <a:prstGeom prst="rect">
            <a:avLst/>
          </a:prstGeom>
          <a:noFill/>
        </p:spPr>
        <p:txBody>
          <a:bodyPr wrap="square">
            <a:spAutoFit/>
          </a:bodyPr>
          <a:lstStyle/>
          <a:p>
            <a:pPr>
              <a:lnSpc>
                <a:spcPct val="150000"/>
              </a:lnSpc>
            </a:pPr>
            <a:r>
              <a:rPr lang="en-US" b="1" dirty="0"/>
              <a:t>Objective:</a:t>
            </a:r>
            <a:br>
              <a:rPr lang="en-US" dirty="0"/>
            </a:br>
            <a:r>
              <a:rPr lang="en-US" dirty="0"/>
              <a:t>        Develop the backend using Python Flask, integrate LLM + RAG, and connect the frontend chat interface with backend services.</a:t>
            </a:r>
          </a:p>
          <a:p>
            <a:pPr>
              <a:lnSpc>
                <a:spcPct val="150000"/>
              </a:lnSpc>
            </a:pPr>
            <a:endParaRPr lang="en-US" b="1" dirty="0"/>
          </a:p>
          <a:p>
            <a:r>
              <a:rPr lang="en-IN" b="1" u="sng" dirty="0"/>
              <a:t>Key Activities:</a:t>
            </a:r>
          </a:p>
          <a:p>
            <a:endParaRPr lang="en-IN" b="1" u="sng" dirty="0"/>
          </a:p>
          <a:p>
            <a:pPr lvl="2"/>
            <a:r>
              <a:rPr lang="en-IN" sz="1300" b="1" dirty="0"/>
              <a:t>Backend Setup (Flask):</a:t>
            </a:r>
            <a:endParaRPr lang="en-IN" sz="1300" dirty="0"/>
          </a:p>
          <a:p>
            <a:pPr marL="361950" lvl="3" indent="-185738">
              <a:lnSpc>
                <a:spcPct val="150000"/>
              </a:lnSpc>
              <a:buFont typeface="Arial" panose="020B0604020202020204" pitchFamily="34" charset="0"/>
              <a:buChar char="•"/>
            </a:pPr>
            <a:r>
              <a:rPr lang="en-IN" dirty="0"/>
              <a:t>Build API routes for chat interactions</a:t>
            </a:r>
          </a:p>
          <a:p>
            <a:pPr marL="361950" lvl="3" indent="-185738">
              <a:lnSpc>
                <a:spcPct val="150000"/>
              </a:lnSpc>
              <a:buFont typeface="Arial" panose="020B0604020202020204" pitchFamily="34" charset="0"/>
              <a:buChar char="•"/>
            </a:pPr>
            <a:r>
              <a:rPr lang="en-IN" dirty="0"/>
              <a:t>Configure middleware, authentication &amp; environment setup</a:t>
            </a:r>
          </a:p>
          <a:p>
            <a:pPr lvl="2"/>
            <a:r>
              <a:rPr lang="en-IN" sz="1300" b="1" dirty="0"/>
              <a:t>LLM &amp; RAG Integration:</a:t>
            </a:r>
            <a:endParaRPr lang="en-IN" sz="1300" dirty="0"/>
          </a:p>
          <a:p>
            <a:pPr marL="361950" lvl="3" indent="-185738">
              <a:lnSpc>
                <a:spcPct val="150000"/>
              </a:lnSpc>
              <a:buFont typeface="Arial" panose="020B0604020202020204" pitchFamily="34" charset="0"/>
              <a:buChar char="•"/>
            </a:pPr>
            <a:r>
              <a:rPr lang="en-IN" dirty="0"/>
              <a:t>Integrate finalized LLM and implement RAG pipeline</a:t>
            </a:r>
          </a:p>
          <a:p>
            <a:pPr marL="361950" lvl="3" indent="-185738">
              <a:lnSpc>
                <a:spcPct val="150000"/>
              </a:lnSpc>
              <a:buFont typeface="Arial" panose="020B0604020202020204" pitchFamily="34" charset="0"/>
              <a:buChar char="•"/>
            </a:pPr>
            <a:r>
              <a:rPr lang="en-IN" dirty="0"/>
              <a:t>Set up vector database &amp; retrieval logic for contextual responses</a:t>
            </a:r>
          </a:p>
          <a:p>
            <a:pPr marL="361950" lvl="3" indent="-185738">
              <a:lnSpc>
                <a:spcPct val="150000"/>
              </a:lnSpc>
              <a:buFont typeface="Arial" panose="020B0604020202020204" pitchFamily="34" charset="0"/>
              <a:buChar char="•"/>
            </a:pPr>
            <a:r>
              <a:rPr lang="en-IN" dirty="0"/>
              <a:t>Test and fine-tune performance and accuracy</a:t>
            </a:r>
          </a:p>
          <a:p>
            <a:pPr lvl="2"/>
            <a:endParaRPr lang="en-US" b="1" dirty="0"/>
          </a:p>
        </p:txBody>
      </p:sp>
    </p:spTree>
    <p:extLst>
      <p:ext uri="{BB962C8B-B14F-4D97-AF65-F5344CB8AC3E}">
        <p14:creationId xmlns:p14="http://schemas.microsoft.com/office/powerpoint/2010/main" val="3873559860"/>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CBB93395-35DC-8506-C124-5E52FC58A22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262F4A20-F451-DCD6-DB8B-9E7BCF10114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t>17</a:t>
            </a:fld>
            <a:endParaRPr dirty="0">
              <a:solidFill>
                <a:schemeClr val="dk1"/>
              </a:solidFill>
            </a:endParaRPr>
          </a:p>
        </p:txBody>
      </p:sp>
      <p:sp>
        <p:nvSpPr>
          <p:cNvPr id="860" name="Google Shape;860;p76">
            <a:extLst>
              <a:ext uri="{FF2B5EF4-FFF2-40B4-BE49-F238E27FC236}">
                <a16:creationId xmlns:a16="http://schemas.microsoft.com/office/drawing/2014/main" id="{230666F3-F12E-91C5-6DA7-FD9F97F7D54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30CBA110-1658-CC77-A229-2F074F603A71}"/>
              </a:ext>
            </a:extLst>
          </p:cNvPr>
          <p:cNvSpPr txBox="1"/>
          <p:nvPr/>
        </p:nvSpPr>
        <p:spPr>
          <a:xfrm>
            <a:off x="424157" y="342573"/>
            <a:ext cx="7755823"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4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Phase 2 – Backend Development &amp; Integration</a:t>
            </a:r>
            <a:endParaRPr sz="24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999ACFDB-6BCD-D661-8570-8DA2BB596ABE}"/>
              </a:ext>
            </a:extLst>
          </p:cNvPr>
          <p:cNvSpPr txBox="1"/>
          <p:nvPr/>
        </p:nvSpPr>
        <p:spPr>
          <a:xfrm>
            <a:off x="424157" y="953934"/>
            <a:ext cx="8187932" cy="3499484"/>
          </a:xfrm>
          <a:prstGeom prst="rect">
            <a:avLst/>
          </a:prstGeom>
          <a:noFill/>
        </p:spPr>
        <p:txBody>
          <a:bodyPr wrap="square">
            <a:spAutoFit/>
          </a:bodyPr>
          <a:lstStyle/>
          <a:p>
            <a:pPr lvl="2"/>
            <a:r>
              <a:rPr lang="en-IN" b="1" dirty="0"/>
              <a:t>Frontend–Backend Integration:</a:t>
            </a:r>
            <a:endParaRPr lang="en-IN" dirty="0"/>
          </a:p>
          <a:p>
            <a:pPr marL="361950" lvl="3" indent="-185738">
              <a:lnSpc>
                <a:spcPct val="150000"/>
              </a:lnSpc>
              <a:buFont typeface="Arial" panose="020B0604020202020204" pitchFamily="34" charset="0"/>
              <a:buChar char="•"/>
            </a:pPr>
            <a:r>
              <a:rPr lang="en-IN" dirty="0"/>
              <a:t>Connect chat UI to Flask backend via REST APIs or Web Sockets</a:t>
            </a:r>
          </a:p>
          <a:p>
            <a:pPr marL="361950" lvl="3" indent="-185738">
              <a:lnSpc>
                <a:spcPct val="150000"/>
              </a:lnSpc>
              <a:buFont typeface="Arial" panose="020B0604020202020204" pitchFamily="34" charset="0"/>
              <a:buChar char="•"/>
            </a:pPr>
            <a:r>
              <a:rPr lang="en-IN" dirty="0"/>
              <a:t>Ensure real-time message exchange and smooth response flow</a:t>
            </a:r>
          </a:p>
          <a:p>
            <a:pPr marL="361950" lvl="3" indent="-185738">
              <a:lnSpc>
                <a:spcPct val="150000"/>
              </a:lnSpc>
              <a:buFont typeface="Arial" panose="020B0604020202020204" pitchFamily="34" charset="0"/>
              <a:buChar char="•"/>
            </a:pPr>
            <a:r>
              <a:rPr lang="en-IN" dirty="0"/>
              <a:t>Handle errors, loading states, and data formatting</a:t>
            </a:r>
          </a:p>
          <a:p>
            <a:pPr lvl="2">
              <a:lnSpc>
                <a:spcPct val="150000"/>
              </a:lnSpc>
            </a:pPr>
            <a:r>
              <a:rPr lang="en-IN" b="1" dirty="0"/>
              <a:t>Data Handling &amp; Storage:</a:t>
            </a:r>
            <a:endParaRPr lang="en-IN" dirty="0"/>
          </a:p>
          <a:p>
            <a:pPr marL="361950" lvl="3" indent="-185738">
              <a:lnSpc>
                <a:spcPct val="150000"/>
              </a:lnSpc>
              <a:buFont typeface="Arial" panose="020B0604020202020204" pitchFamily="34" charset="0"/>
              <a:buChar char="•"/>
            </a:pPr>
            <a:r>
              <a:rPr lang="en-IN" dirty="0"/>
              <a:t>Define schemas for chat logs and sessions</a:t>
            </a:r>
          </a:p>
          <a:p>
            <a:pPr marL="361950" lvl="3" indent="-185738">
              <a:lnSpc>
                <a:spcPct val="150000"/>
              </a:lnSpc>
              <a:buFont typeface="Arial" panose="020B0604020202020204" pitchFamily="34" charset="0"/>
              <a:buChar char="•"/>
            </a:pPr>
            <a:r>
              <a:rPr lang="en-IN" dirty="0"/>
              <a:t>Integrate database for persistence and secure data management</a:t>
            </a:r>
          </a:p>
          <a:p>
            <a:pPr lvl="2">
              <a:lnSpc>
                <a:spcPct val="150000"/>
              </a:lnSpc>
            </a:pPr>
            <a:r>
              <a:rPr lang="en-IN" b="1" dirty="0"/>
              <a:t>Testing &amp; Deployment:</a:t>
            </a:r>
            <a:endParaRPr lang="en-IN" dirty="0"/>
          </a:p>
          <a:p>
            <a:pPr marL="361950" lvl="3" indent="-185738">
              <a:lnSpc>
                <a:spcPct val="150000"/>
              </a:lnSpc>
              <a:buFont typeface="Arial" panose="020B0604020202020204" pitchFamily="34" charset="0"/>
              <a:buChar char="•"/>
            </a:pPr>
            <a:r>
              <a:rPr lang="en-IN" dirty="0"/>
              <a:t>Conduct unit, integration, and end-to-end testing</a:t>
            </a:r>
          </a:p>
          <a:p>
            <a:pPr marL="361950" lvl="3" indent="-185738">
              <a:lnSpc>
                <a:spcPct val="150000"/>
              </a:lnSpc>
              <a:buFont typeface="Arial" panose="020B0604020202020204" pitchFamily="34" charset="0"/>
              <a:buChar char="•"/>
            </a:pPr>
            <a:r>
              <a:rPr lang="en-IN" dirty="0"/>
              <a:t>Containerize backend (Docker) and prepare staging/production setup (in future)</a:t>
            </a:r>
          </a:p>
          <a:p>
            <a:pPr marL="361950" lvl="3" indent="-185738">
              <a:lnSpc>
                <a:spcPct val="150000"/>
              </a:lnSpc>
              <a:buFont typeface="Arial" panose="020B0604020202020204" pitchFamily="34" charset="0"/>
              <a:buChar char="•"/>
            </a:pPr>
            <a:r>
              <a:rPr lang="en-IN" dirty="0"/>
              <a:t>Ensure scalability, performance, and reliability</a:t>
            </a:r>
          </a:p>
        </p:txBody>
      </p:sp>
    </p:spTree>
    <p:extLst>
      <p:ext uri="{BB962C8B-B14F-4D97-AF65-F5344CB8AC3E}">
        <p14:creationId xmlns:p14="http://schemas.microsoft.com/office/powerpoint/2010/main" val="1659929637"/>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B192B12E-9133-7F96-852C-31C6C9C96067}"/>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67465E67-06F1-B9CA-822E-CB51B9B4360D}"/>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18</a:t>
            </a:fld>
            <a:endParaRPr>
              <a:solidFill>
                <a:schemeClr val="dk1"/>
              </a:solidFill>
            </a:endParaRPr>
          </a:p>
        </p:txBody>
      </p:sp>
      <p:sp>
        <p:nvSpPr>
          <p:cNvPr id="860" name="Google Shape;860;p76">
            <a:extLst>
              <a:ext uri="{FF2B5EF4-FFF2-40B4-BE49-F238E27FC236}">
                <a16:creationId xmlns:a16="http://schemas.microsoft.com/office/drawing/2014/main" id="{20151F3D-5779-9081-89FE-D182B1E02F1D}"/>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259C3801-2F82-68D0-E1FC-E38AB6686A35}"/>
              </a:ext>
            </a:extLst>
          </p:cNvPr>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Conclusion</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A4B69B31-4812-8F7A-CD01-37475ADE7F32}"/>
              </a:ext>
            </a:extLst>
          </p:cNvPr>
          <p:cNvSpPr txBox="1"/>
          <p:nvPr/>
        </p:nvSpPr>
        <p:spPr>
          <a:xfrm>
            <a:off x="424158" y="928423"/>
            <a:ext cx="8187932" cy="3822650"/>
          </a:xfrm>
          <a:prstGeom prst="rect">
            <a:avLst/>
          </a:prstGeom>
          <a:noFill/>
        </p:spPr>
        <p:txBody>
          <a:bodyPr wrap="square">
            <a:spAutoFit/>
          </a:bodyPr>
          <a:lstStyle/>
          <a:p>
            <a:pPr algn="just">
              <a:lnSpc>
                <a:spcPct val="150000"/>
              </a:lnSpc>
            </a:pPr>
            <a:r>
              <a:rPr lang="en-US" dirty="0"/>
              <a:t>This project validates the potential of integrating </a:t>
            </a:r>
            <a:r>
              <a:rPr lang="en-US" b="1" dirty="0"/>
              <a:t>Large Language Models (LLMs)</a:t>
            </a:r>
            <a:r>
              <a:rPr lang="en-US" dirty="0"/>
              <a:t> with </a:t>
            </a:r>
            <a:r>
              <a:rPr lang="en-US" b="1" dirty="0"/>
              <a:t>low-code platforms</a:t>
            </a:r>
            <a:r>
              <a:rPr lang="en-US" dirty="0"/>
              <a:t> to modernize Enterprise system interaction. Through a conversational AI assistant, we bridge the gap between complex enterprise data and everyday user making ERP access intuitive and intelligent.</a:t>
            </a:r>
          </a:p>
          <a:p>
            <a:pPr algn="just">
              <a:lnSpc>
                <a:spcPct val="150000"/>
              </a:lnSpc>
            </a:pPr>
            <a:r>
              <a:rPr lang="en-US" dirty="0"/>
              <a:t> </a:t>
            </a:r>
          </a:p>
          <a:p>
            <a:r>
              <a:rPr lang="en-US" b="1" dirty="0"/>
              <a:t>Summary:</a:t>
            </a:r>
          </a:p>
          <a:p>
            <a:pPr marL="355600" indent="-174625">
              <a:lnSpc>
                <a:spcPct val="150000"/>
              </a:lnSpc>
              <a:buFont typeface="Arial" panose="020B0604020202020204" pitchFamily="34" charset="0"/>
              <a:buChar char="•"/>
            </a:pPr>
            <a:r>
              <a:rPr lang="en-US" dirty="0"/>
              <a:t>Demonstrates real world impact of </a:t>
            </a:r>
            <a:r>
              <a:rPr lang="en-US" b="1" dirty="0"/>
              <a:t>LLM + Low-Code synergy</a:t>
            </a:r>
          </a:p>
          <a:p>
            <a:pPr marL="355600" indent="-174625">
              <a:lnSpc>
                <a:spcPct val="150000"/>
              </a:lnSpc>
              <a:buFont typeface="Arial" panose="020B0604020202020204" pitchFamily="34" charset="0"/>
              <a:buChar char="•"/>
            </a:pPr>
            <a:r>
              <a:rPr lang="en-US" dirty="0"/>
              <a:t>Simplifies Enterprise Application access using natural language, reducing training needs</a:t>
            </a:r>
          </a:p>
          <a:p>
            <a:pPr marL="355600" indent="-174625">
              <a:lnSpc>
                <a:spcPct val="150000"/>
              </a:lnSpc>
              <a:buFont typeface="Arial" panose="020B0604020202020204" pitchFamily="34" charset="0"/>
              <a:buChar char="•"/>
            </a:pPr>
            <a:r>
              <a:rPr lang="en-US" dirty="0"/>
              <a:t>Solves a real business problem with emerging AI technologies.</a:t>
            </a:r>
          </a:p>
          <a:p>
            <a:pPr marL="355600" indent="-174625">
              <a:lnSpc>
                <a:spcPct val="150000"/>
              </a:lnSpc>
              <a:buFont typeface="Arial" panose="020B0604020202020204" pitchFamily="34" charset="0"/>
              <a:buChar char="•"/>
            </a:pPr>
            <a:r>
              <a:rPr lang="en-IN" dirty="0"/>
              <a:t>Modular design supports future </a:t>
            </a:r>
            <a:r>
              <a:rPr lang="en-IN" b="1" dirty="0"/>
              <a:t>scalability &amp; enterprise integration.</a:t>
            </a:r>
          </a:p>
          <a:p>
            <a:pPr marL="355600" indent="-174625">
              <a:lnSpc>
                <a:spcPct val="150000"/>
              </a:lnSpc>
              <a:buFont typeface="Arial" panose="020B0604020202020204" pitchFamily="34" charset="0"/>
              <a:buChar char="•"/>
            </a:pPr>
            <a:r>
              <a:rPr lang="en-US" dirty="0"/>
              <a:t>Lays foundation for </a:t>
            </a:r>
            <a:r>
              <a:rPr lang="en-US" b="1" dirty="0"/>
              <a:t>domain-specific AI assistants</a:t>
            </a:r>
            <a:r>
              <a:rPr lang="en-US" dirty="0"/>
              <a:t> across business verticals</a:t>
            </a:r>
          </a:p>
          <a:p>
            <a:pPr marL="355600" indent="-174625">
              <a:lnSpc>
                <a:spcPct val="150000"/>
              </a:lnSpc>
              <a:buFont typeface="Arial" panose="020B0604020202020204" pitchFamily="34" charset="0"/>
              <a:buChar char="•"/>
            </a:pPr>
            <a:r>
              <a:rPr lang="en-US" dirty="0"/>
              <a:t>Combines low-code and AI for maximum impact.</a:t>
            </a:r>
            <a:endParaRPr lang="en-IN" dirty="0"/>
          </a:p>
        </p:txBody>
      </p:sp>
    </p:spTree>
    <p:extLst>
      <p:ext uri="{BB962C8B-B14F-4D97-AF65-F5344CB8AC3E}">
        <p14:creationId xmlns:p14="http://schemas.microsoft.com/office/powerpoint/2010/main" val="327462759"/>
      </p:ext>
    </p:extLst>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B1635536-9F1A-7043-6E0D-CD7984882AE9}"/>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454A7CFB-1FB8-152D-76F9-4C6CD6535661}"/>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19</a:t>
            </a:fld>
            <a:endParaRPr>
              <a:solidFill>
                <a:schemeClr val="dk1"/>
              </a:solidFill>
            </a:endParaRPr>
          </a:p>
        </p:txBody>
      </p:sp>
      <p:sp>
        <p:nvSpPr>
          <p:cNvPr id="860" name="Google Shape;860;p76">
            <a:extLst>
              <a:ext uri="{FF2B5EF4-FFF2-40B4-BE49-F238E27FC236}">
                <a16:creationId xmlns:a16="http://schemas.microsoft.com/office/drawing/2014/main" id="{AA9CB2C0-1CDA-527A-B5EE-6B5495561BE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ABBC71C3-A04E-4021-51D6-318AF1E0D329}"/>
              </a:ext>
            </a:extLst>
          </p:cNvPr>
          <p:cNvSpPr txBox="1"/>
          <p:nvPr/>
        </p:nvSpPr>
        <p:spPr>
          <a:xfrm>
            <a:off x="424158" y="305098"/>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Future Enhancement</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917D2BC7-B282-D9A2-0C0D-F93EE22AEC96}"/>
              </a:ext>
            </a:extLst>
          </p:cNvPr>
          <p:cNvSpPr txBox="1"/>
          <p:nvPr/>
        </p:nvSpPr>
        <p:spPr>
          <a:xfrm>
            <a:off x="550460" y="857877"/>
            <a:ext cx="7191959" cy="3607206"/>
          </a:xfrm>
          <a:prstGeom prst="rect">
            <a:avLst/>
          </a:prstGeom>
          <a:noFill/>
        </p:spPr>
        <p:txBody>
          <a:bodyPr wrap="square">
            <a:spAutoFit/>
          </a:bodyPr>
          <a:lstStyle/>
          <a:p>
            <a:pPr>
              <a:lnSpc>
                <a:spcPct val="150000"/>
              </a:lnSpc>
            </a:pPr>
            <a:r>
              <a:rPr lang="en-US" dirty="0"/>
              <a:t>This prototype opens the door to more advanced capabilities and broader applications across business domains.</a:t>
            </a:r>
          </a:p>
          <a:p>
            <a:pPr>
              <a:lnSpc>
                <a:spcPct val="150000"/>
              </a:lnSpc>
            </a:pPr>
            <a:r>
              <a:rPr lang="en-US" b="1" dirty="0"/>
              <a:t>Planned Enhancements:</a:t>
            </a:r>
            <a:endParaRPr lang="en-US" dirty="0"/>
          </a:p>
          <a:p>
            <a:pPr marL="285750" indent="-195263">
              <a:lnSpc>
                <a:spcPct val="150000"/>
              </a:lnSpc>
              <a:buFont typeface="Arial" panose="020B0604020202020204" pitchFamily="34" charset="0"/>
              <a:buChar char="•"/>
            </a:pPr>
            <a:r>
              <a:rPr lang="en-US" b="1" dirty="0"/>
              <a:t>Voice-based interaction:</a:t>
            </a:r>
            <a:r>
              <a:rPr lang="en-US" dirty="0"/>
              <a:t> Integrate speech-to-text and text-to-speech APIs.</a:t>
            </a:r>
          </a:p>
          <a:p>
            <a:pPr marL="285750" indent="-195263">
              <a:lnSpc>
                <a:spcPct val="150000"/>
              </a:lnSpc>
              <a:buFont typeface="Arial" panose="020B0604020202020204" pitchFamily="34" charset="0"/>
              <a:buChar char="•"/>
            </a:pPr>
            <a:r>
              <a:rPr lang="en-US" b="1" dirty="0"/>
              <a:t>Domain-tuned LLMs:</a:t>
            </a:r>
            <a:r>
              <a:rPr lang="en-US" dirty="0"/>
              <a:t> Fine-tune models on specific ERP datasets.</a:t>
            </a:r>
          </a:p>
          <a:p>
            <a:pPr marL="285750" indent="-195263">
              <a:lnSpc>
                <a:spcPct val="150000"/>
              </a:lnSpc>
              <a:buFont typeface="Arial" panose="020B0604020202020204" pitchFamily="34" charset="0"/>
              <a:buChar char="•"/>
            </a:pPr>
            <a:r>
              <a:rPr lang="en-US" b="1" dirty="0"/>
              <a:t>Real-time alerting:</a:t>
            </a:r>
            <a:r>
              <a:rPr lang="en-US" dirty="0"/>
              <a:t> Proactive assistant that suggests actions based on trends.</a:t>
            </a:r>
          </a:p>
          <a:p>
            <a:pPr marL="285750" indent="-195263">
              <a:lnSpc>
                <a:spcPct val="150000"/>
              </a:lnSpc>
              <a:buFont typeface="Arial" panose="020B0604020202020204" pitchFamily="34" charset="0"/>
              <a:buChar char="•"/>
            </a:pPr>
            <a:r>
              <a:rPr lang="en-US" b="1" dirty="0"/>
              <a:t>Cross-platform integration:</a:t>
            </a:r>
            <a:r>
              <a:rPr lang="en-US" dirty="0"/>
              <a:t> Use the assistant in mobile apps, intranets, or CRM.</a:t>
            </a:r>
          </a:p>
          <a:p>
            <a:pPr>
              <a:lnSpc>
                <a:spcPct val="150000"/>
              </a:lnSpc>
            </a:pPr>
            <a:r>
              <a:rPr lang="en-US" b="1" dirty="0"/>
              <a:t>Scalability Options:</a:t>
            </a:r>
            <a:endParaRPr lang="en-US" dirty="0"/>
          </a:p>
          <a:p>
            <a:pPr marL="285750" indent="-195263">
              <a:lnSpc>
                <a:spcPct val="150000"/>
              </a:lnSpc>
              <a:buFont typeface="Arial" panose="020B0604020202020204" pitchFamily="34" charset="0"/>
              <a:buChar char="•"/>
            </a:pPr>
            <a:r>
              <a:rPr lang="en-US" dirty="0"/>
              <a:t>Multi-lingual support.</a:t>
            </a:r>
          </a:p>
          <a:p>
            <a:pPr marL="285750" indent="-195263">
              <a:lnSpc>
                <a:spcPct val="150000"/>
              </a:lnSpc>
              <a:buFont typeface="Arial" panose="020B0604020202020204" pitchFamily="34" charset="0"/>
              <a:buChar char="•"/>
            </a:pPr>
            <a:r>
              <a:rPr lang="en-US" dirty="0"/>
              <a:t>Integration with SAP, ODOO, or other ERPs.</a:t>
            </a:r>
          </a:p>
          <a:p>
            <a:pPr marL="285750" indent="-195263">
              <a:lnSpc>
                <a:spcPct val="150000"/>
              </a:lnSpc>
              <a:buFont typeface="Arial" panose="020B0604020202020204" pitchFamily="34" charset="0"/>
              <a:buChar char="•"/>
            </a:pPr>
            <a:r>
              <a:rPr lang="en-US" dirty="0"/>
              <a:t>Role-based conversation contexts.</a:t>
            </a:r>
          </a:p>
        </p:txBody>
      </p:sp>
    </p:spTree>
    <p:extLst>
      <p:ext uri="{BB962C8B-B14F-4D97-AF65-F5344CB8AC3E}">
        <p14:creationId xmlns:p14="http://schemas.microsoft.com/office/powerpoint/2010/main" val="2086397350"/>
      </p:ext>
    </p:extLst>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80"/>
          <p:cNvSpPr txBox="1">
            <a:spLocks noGrp="1"/>
          </p:cNvSpPr>
          <p:nvPr>
            <p:ph type="ctrTitle" idx="4294967295"/>
          </p:nvPr>
        </p:nvSpPr>
        <p:spPr>
          <a:xfrm>
            <a:off x="255967" y="33468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REFERENCES </a:t>
            </a:r>
            <a:endParaRPr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0" name="Google Shape;890;p80"/>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20</a:t>
            </a:fld>
            <a:endParaRPr>
              <a:solidFill>
                <a:schemeClr val="dk1"/>
              </a:solidFill>
            </a:endParaRPr>
          </a:p>
        </p:txBody>
      </p:sp>
      <p:sp>
        <p:nvSpPr>
          <p:cNvPr id="891" name="Google Shape;891;p80"/>
          <p:cNvSpPr txBox="1"/>
          <p:nvPr/>
        </p:nvSpPr>
        <p:spPr>
          <a:xfrm>
            <a:off x="831273" y="893378"/>
            <a:ext cx="7566493" cy="3585104"/>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342900" marR="0" lvl="0" indent="-22860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1173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457200" marR="0" lvl="0" indent="-228600" algn="l" rtl="0">
              <a:lnSpc>
                <a:spcPct val="115000"/>
              </a:lnSpc>
              <a:spcBef>
                <a:spcPts val="0"/>
              </a:spcBef>
              <a:spcAft>
                <a:spcPts val="0"/>
              </a:spcAft>
              <a:buClr>
                <a:schemeClr val="accent2"/>
              </a:buClr>
              <a:buSzPts val="2400"/>
              <a:buFont typeface="Noto Sans Symbols"/>
              <a:buNone/>
            </a:pPr>
            <a:endParaRPr sz="1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l" rtl="0">
              <a:lnSpc>
                <a:spcPct val="115000"/>
              </a:lnSpc>
              <a:spcBef>
                <a:spcPts val="800"/>
              </a:spcBef>
              <a:spcAft>
                <a:spcPts val="0"/>
              </a:spcAft>
              <a:buClr>
                <a:schemeClr val="accent1"/>
              </a:buClr>
              <a:buSzPts val="2400"/>
              <a:buFont typeface="Noto Sans Symbols"/>
              <a:buNone/>
            </a:pP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2" name="Google Shape;892;p80"/>
          <p:cNvSpPr txBox="1"/>
          <p:nvPr/>
        </p:nvSpPr>
        <p:spPr>
          <a:xfrm>
            <a:off x="662972" y="996822"/>
            <a:ext cx="8204843" cy="3676829"/>
          </a:xfrm>
          <a:prstGeom prst="rect">
            <a:avLst/>
          </a:prstGeom>
          <a:noFill/>
          <a:ln>
            <a:noFill/>
          </a:ln>
        </p:spPr>
        <p:txBody>
          <a:bodyPr spcFirstLastPara="1" wrap="square" lIns="0" tIns="0" rIns="0" bIns="0" anchor="t" anchorCtr="0">
            <a:noAutofit/>
          </a:bodyPr>
          <a:lstStyle/>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Siar </a:t>
            </a:r>
            <a:r>
              <a:rPr lang="en-IN" sz="1300" dirty="0" err="1">
                <a:latin typeface="Times New Roman" panose="02020603050405020304" pitchFamily="18" charset="0"/>
              </a:rPr>
              <a:t>Sarferaz</a:t>
            </a:r>
            <a:r>
              <a:rPr lang="en-IN" sz="1300" dirty="0">
                <a:latin typeface="Times New Roman" panose="02020603050405020304" pitchFamily="18" charset="0"/>
              </a:rPr>
              <a:t> (2025). Implementing Generative AI into ERP Software.</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Yue Yin, Stefan Decker (2025). An LLM-Driven Chatbot in Higher Education for Databases and Information Systems</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E.A. Chavez </a:t>
            </a:r>
            <a:r>
              <a:rPr lang="en-IN" sz="1300" dirty="0" err="1">
                <a:latin typeface="Times New Roman" panose="02020603050405020304" pitchFamily="18" charset="0"/>
              </a:rPr>
              <a:t>Urbiola</a:t>
            </a:r>
            <a:r>
              <a:rPr lang="en-IN" sz="1300" dirty="0">
                <a:latin typeface="Times New Roman" panose="02020603050405020304" pitchFamily="18" charset="0"/>
              </a:rPr>
              <a:t> , Juan </a:t>
            </a:r>
            <a:r>
              <a:rPr lang="en-IN" sz="1300" dirty="0" err="1">
                <a:latin typeface="Times New Roman" panose="02020603050405020304" pitchFamily="18" charset="0"/>
              </a:rPr>
              <a:t>Tarven</a:t>
            </a:r>
            <a:r>
              <a:rPr lang="en-IN" sz="1300" dirty="0">
                <a:latin typeface="Times New Roman" panose="02020603050405020304" pitchFamily="18" charset="0"/>
              </a:rPr>
              <a:t> (2024). Intelligent Driving Assistance System using RAG.</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Sara </a:t>
            </a:r>
            <a:r>
              <a:rPr lang="en-IN" sz="1300" dirty="0" err="1">
                <a:latin typeface="Times New Roman" panose="02020603050405020304" pitchFamily="18" charset="0"/>
              </a:rPr>
              <a:t>Aboukadri</a:t>
            </a:r>
            <a:r>
              <a:rPr lang="en-IN" sz="1300" dirty="0">
                <a:latin typeface="Times New Roman" panose="02020603050405020304" pitchFamily="18" charset="0"/>
              </a:rPr>
              <a:t> (2025). Leveraging RAG and LLMs for Access Control Policy Extraction From User Stories in Agile Software Development.</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Oracle APEX Documentation. https://docs.oracle.com/en/database/oracle/apex/</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LlamaIndex</a:t>
            </a:r>
            <a:r>
              <a:rPr lang="en-IN" sz="1300" dirty="0">
                <a:latin typeface="Times New Roman" panose="02020603050405020304" pitchFamily="18" charset="0"/>
              </a:rPr>
              <a:t>: https://llamaindex.ai</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LangChain</a:t>
            </a:r>
            <a:r>
              <a:rPr lang="en-IN" sz="1300" dirty="0">
                <a:latin typeface="Times New Roman" panose="02020603050405020304" pitchFamily="18" charset="0"/>
              </a:rPr>
              <a:t> Docs: https://docs.langchain.com</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OpenAI Embeddings API. </a:t>
            </a:r>
            <a:r>
              <a:rPr lang="en-IN" sz="1300" dirty="0">
                <a:latin typeface="Times New Roman" panose="02020603050405020304" pitchFamily="18" charset="0"/>
                <a:hlinkClick r:id="rId3">
                  <a:extLst>
                    <a:ext uri="{A12FA001-AC4F-418D-AE19-62706E023703}">
                      <ahyp:hlinkClr xmlns:ahyp="http://schemas.microsoft.com/office/drawing/2018/hyperlinkcolor" val="tx"/>
                    </a:ext>
                  </a:extLst>
                </a:hlinkClick>
              </a:rPr>
              <a:t>https://platform.openai.com/docs/guides/embeddings</a:t>
            </a:r>
            <a:endParaRPr lang="en-IN" sz="1300" dirty="0">
              <a:latin typeface="Times New Roman" panose="02020603050405020304" pitchFamily="18" charset="0"/>
            </a:endParaRPr>
          </a:p>
        </p:txBody>
      </p:sp>
      <p:sp>
        <p:nvSpPr>
          <p:cNvPr id="893" name="Google Shape;893;p80"/>
          <p:cNvSpPr/>
          <p:nvPr/>
        </p:nvSpPr>
        <p:spPr>
          <a:xfrm rot="2466640">
            <a:off x="8146668" y="-65924"/>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4" name="Google Shape;894;p80"/>
          <p:cNvSpPr/>
          <p:nvPr/>
        </p:nvSpPr>
        <p:spPr>
          <a:xfrm rot="2466640">
            <a:off x="8299068" y="86476"/>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pic>
        <p:nvPicPr>
          <p:cNvPr id="909" name="Google Shape;909;p82" descr="How White Matter Helps the Brain's Gray Matter Function | HowStuffWorks"/>
          <p:cNvPicPr preferRelativeResize="0"/>
          <p:nvPr/>
        </p:nvPicPr>
        <p:blipFill rotWithShape="1">
          <a:blip r:embed="rId3"/>
          <a:srcRect/>
          <a:stretch>
            <a:fillRect/>
          </a:stretch>
        </p:blipFill>
        <p:spPr>
          <a:xfrm>
            <a:off x="0" y="0"/>
            <a:ext cx="9452146" cy="5143500"/>
          </a:xfrm>
          <a:prstGeom prst="rect">
            <a:avLst/>
          </a:prstGeom>
          <a:noFill/>
          <a:ln>
            <a:noFill/>
          </a:ln>
        </p:spPr>
      </p:pic>
      <p:sp>
        <p:nvSpPr>
          <p:cNvPr id="910" name="Google Shape;910;p82"/>
          <p:cNvSpPr/>
          <p:nvPr/>
        </p:nvSpPr>
        <p:spPr>
          <a:xfrm>
            <a:off x="750757" y="710438"/>
            <a:ext cx="7950631" cy="163887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500" b="1" i="0" u="none" strike="noStrike" cap="none" dirty="0">
                <a:solidFill>
                  <a:srgbClr val="FFC000"/>
                </a:solidFill>
                <a:latin typeface="Times New Roman" panose="02020603050405020304"/>
                <a:ea typeface="Times New Roman" panose="02020603050405020304"/>
                <a:cs typeface="Times New Roman" panose="02020603050405020304"/>
                <a:sym typeface="Times New Roman" panose="02020603050405020304"/>
              </a:rPr>
              <a:t>THANK YOU</a:t>
            </a:r>
          </a:p>
          <a:p>
            <a:pPr marL="285750" indent="-285750">
              <a:lnSpc>
                <a:spcPct val="150000"/>
              </a:lnSpc>
              <a:buClr>
                <a:schemeClr val="lt1"/>
              </a:buClr>
              <a:buSzPts val="1400"/>
              <a:buFont typeface="Arial" panose="020B0604020202020204"/>
              <a:buChar char="•"/>
            </a:pPr>
            <a:r>
              <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Dr. Thirumal (Supervisor)</a:t>
            </a:r>
            <a:endParaRPr lang="en-US"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lnSpc>
                <a:spcPct val="150000"/>
              </a:lnSpc>
              <a:spcBef>
                <a:spcPts val="0"/>
              </a:spcBef>
              <a:spcAft>
                <a:spcPts val="0"/>
              </a:spcAft>
              <a:buClr>
                <a:schemeClr val="lt1"/>
              </a:buClr>
              <a:buSzPts val="1400"/>
              <a:buFont typeface="Arial" panose="020B0604020202020204"/>
              <a:buChar char="•"/>
            </a:pPr>
            <a:r>
              <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Dr. Kumar (Supervisor)</a:t>
            </a:r>
          </a:p>
          <a:p>
            <a:pPr marL="342900" marR="0" lvl="0" indent="-254000" algn="l" rtl="0">
              <a:lnSpc>
                <a:spcPct val="150000"/>
              </a:lnSpc>
              <a:spcBef>
                <a:spcPts val="0"/>
              </a:spcBef>
              <a:spcAft>
                <a:spcPts val="0"/>
              </a:spcAft>
              <a:buClr>
                <a:schemeClr val="lt1"/>
              </a:buClr>
              <a:buSzPts val="1400"/>
              <a:buFont typeface="Arial" panose="020B0604020202020204"/>
              <a:buNone/>
            </a:pPr>
            <a:endPar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fade thruBlk="1"/>
  </p:transition>
</p:sld>
</file>

<file path=ppt/theme/theme1.xml><?xml version="1.0" encoding="utf-8"?>
<a:theme xmlns:a="http://schemas.openxmlformats.org/drawingml/2006/main" name="Whitmore template">
  <a:themeElements>
    <a:clrScheme name="Custom 347">
      <a:dk1>
        <a:srgbClr val="011733"/>
      </a:dk1>
      <a:lt1>
        <a:srgbClr val="FFFFFF"/>
      </a:lt1>
      <a:dk2>
        <a:srgbClr val="889597"/>
      </a:dk2>
      <a:lt2>
        <a:srgbClr val="EBEEEA"/>
      </a:lt2>
      <a:accent1>
        <a:srgbClr val="BCF6A7"/>
      </a:accent1>
      <a:accent2>
        <a:srgbClr val="18A88D"/>
      </a:accent2>
      <a:accent3>
        <a:srgbClr val="11606D"/>
      </a:accent3>
      <a:accent4>
        <a:srgbClr val="1A4EB9"/>
      </a:accent4>
      <a:accent5>
        <a:srgbClr val="9E87D8"/>
      </a:accent5>
      <a:accent6>
        <a:srgbClr val="E498C6"/>
      </a:accent6>
      <a:hlink>
        <a:srgbClr val="11606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627</TotalTime>
  <Words>1985</Words>
  <Application>Microsoft Office PowerPoint</Application>
  <PresentationFormat>On-screen Show (16:9)</PresentationFormat>
  <Paragraphs>225</Paragraphs>
  <Slides>21</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Oxygen Light</vt:lpstr>
      <vt:lpstr>Times New Roman</vt:lpstr>
      <vt:lpstr>Noto Sans Symbols</vt:lpstr>
      <vt:lpstr>Zilla Slab SemiBold</vt:lpstr>
      <vt:lpstr>Arial</vt:lpstr>
      <vt:lpstr>Calibri</vt:lpstr>
      <vt:lpstr>Whitmore template</vt:lpstr>
      <vt:lpstr>PowerPoint Presentation</vt:lpstr>
      <vt:lpstr>PowerPoint Presentation</vt:lpstr>
      <vt:lpstr>Problem Inferred</vt:lpstr>
      <vt:lpstr>Objective</vt:lpstr>
      <vt:lpstr>PowerPoint Presentation</vt:lpstr>
      <vt:lpstr>PowerPoint Presentation</vt:lpstr>
      <vt:lpstr>Block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Thilakavathy</dc:creator>
  <cp:lastModifiedBy>ADMIN</cp:lastModifiedBy>
  <cp:revision>295</cp:revision>
  <dcterms:created xsi:type="dcterms:W3CDTF">2025-04-24T11:51:04Z</dcterms:created>
  <dcterms:modified xsi:type="dcterms:W3CDTF">2025-10-12T06:45:58Z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4596D85419D340968C69A67926DFAA07_13</vt:lpwstr>
  </property>
  <property fmtid="{D5CDD505-2E9C-101B-9397-08002B2CF9AE}" pid="3" name="KSOProductBuildVer">
    <vt:lpwstr>1033-12.2.0.20795</vt:lpwstr>
  </property>
</Properties>
</file>